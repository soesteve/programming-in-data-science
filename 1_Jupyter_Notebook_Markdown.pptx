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26"/>
    <p:restoredTop sz="94795"/>
  </p:normalViewPr>
  <p:slideViewPr>
    <p:cSldViewPr snapToGrid="0">
      <p:cViewPr varScale="1">
        <p:scale>
          <a:sx n="120" d="100"/>
          <a:sy n="120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26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0F3EEE-0647-2AD4-4442-BCDB236914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9B767F-F7DB-B1A5-76FC-50948ED84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7D240-E758-7043-92B7-7B96E316C32E}" type="datetimeFigureOut">
              <a:rPr lang="es-ES" smtClean="0"/>
              <a:t>7/9/26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E8072-35F5-ACB6-8C45-3F74E1CEC2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0C9AF-C016-F391-D183-E67817528B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06729-8F35-8D44-9819-13EBD7C26E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43127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B2ED-4E9A-B05A-33A9-DC0B7DFF6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036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83BC0-C8D0-510F-B6A5-F7E25351B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9A972-D0B7-0EA5-99C1-39BF9D4F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F85EE-F9D0-4313-7A9B-AA4A27A4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33D0B-951E-6E67-BA2F-F4C99D73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64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0B3D-673A-733B-496A-A6A338C8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3DDB-5A19-D483-E98D-475E77517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10515600" cy="4753516"/>
          </a:xfrm>
        </p:spPr>
        <p:txBody>
          <a:bodyPr/>
          <a:lstStyle>
            <a:lvl1pPr>
              <a:lnSpc>
                <a:spcPct val="140000"/>
              </a:lnSpc>
              <a:defRPr/>
            </a:lvl1pPr>
            <a:lvl2pPr>
              <a:lnSpc>
                <a:spcPct val="140000"/>
              </a:lnSpc>
              <a:defRPr/>
            </a:lvl2pPr>
            <a:lvl3pPr>
              <a:lnSpc>
                <a:spcPct val="140000"/>
              </a:lnSpc>
              <a:defRPr/>
            </a:lvl3pPr>
            <a:lvl4pPr>
              <a:lnSpc>
                <a:spcPct val="140000"/>
              </a:lnSpc>
              <a:defRPr/>
            </a:lvl4pPr>
            <a:lvl5pPr>
              <a:lnSpc>
                <a:spcPct val="14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AE54-A8FD-8345-EFDB-D7C360E1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88085-F4CD-E838-6BFF-6EA9EBA6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97F5F-4D39-6A15-AF10-F93D33AE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129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423B-93ED-8CFB-8988-BE108442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8B42F-6F9C-972D-33E1-943CFA4A0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CD8C7-26AE-295F-B755-24566473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48B2E-897F-27DD-8DCD-4088EF7B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0F0D3-675F-F1B6-64A8-F83E8783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472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3F1E-113D-E118-C893-327C1477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346F4-2AE9-A85F-624A-EC6A0E5F3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6092A-76D4-9F96-A27C-9BB9EDEC7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E6A7C-367B-227D-8A8B-42E2982D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6689F-12A1-7D3F-BAE2-2F65E358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49D02-43E4-1012-7545-0072FBD6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324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AC7A-DB6C-5CC6-91F8-C87B7F6C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46236-651E-714C-08D1-936D0333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2393A-BA57-7873-DA18-45FCA5152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850F9-2F99-9FE3-15E8-274AF4C8A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067C3-F6CB-C011-A1A1-79B9E6FFF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8FFEBA-ABF2-AB91-B5B7-B6D8BD87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02FCE-5735-30EC-0A51-519D56CA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3A11B-72E3-C878-7E8A-620EF0C3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376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EC65-57A6-EBBF-D75B-E8AB2C0C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99787-F6CA-41D1-7FD7-92D8FD77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780D3-72D6-B250-91DA-4CE99696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EDEFF-EFA7-7C05-E974-86ACB3D0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7579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BC998-B7DA-942D-BA87-46EDA5C8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4062C-17C3-F790-E9E3-E8138CC8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47085-65BF-9623-DAD3-C7DC0480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963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3BA0-4831-394D-A02B-B4F46E5D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91159-30BA-39EE-1153-027731C84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3FE8F-20F2-F647-2456-303691A2C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65BB1-7288-D3E8-B8A5-ED252A37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3A5B7-AABB-8F32-69CF-B6612E58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CAE66-A33E-0876-6CE6-294E5806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585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C1C91-2971-1101-5E43-862C5A3E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54C72B-C0DD-9993-95AE-D30F8018C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84A5D-902B-3FA0-1907-6A6322DFC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8C605-815B-4E72-8EB5-3C410F0C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658A3-801E-78AA-638A-C3F80ABB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3FCAA-AB75-D9ED-8A34-DC496842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880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F3E5-F972-D151-7792-D8C2A5CC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DF2AE-9736-BBF9-DA7B-0A71130F2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C48A2-EF71-CB99-265B-7C27F1A4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36391-CE9C-8D43-5358-241D9AC2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F1C4F-4F20-01C2-960D-D34CBF87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565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8BFE8-184C-0FBD-BA20-9EB98150F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94C97-063D-E34A-7C80-6A00FBCB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4365-2F7C-C3DD-D485-EA9358DDF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D4DBB-9176-6484-96DD-967C8748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21D89-1CB5-59EF-6DC2-2CE32457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10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73E7D-6859-D078-7D76-D459C6CC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E57D4-2910-F975-0D94-27967023B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447"/>
            <a:ext cx="10515600" cy="4753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500FF-854D-4E18-FC2C-49CD323AD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6E2E0-5835-4B44-845E-A86924C1B4CF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F6A0-3F8C-5FC9-37E6-9B687B71A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aseline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Sonia Estévez Martín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4A1F9-F0E4-10F0-6D30-3E48F2876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aseline="0">
                <a:solidFill>
                  <a:schemeClr val="tx1"/>
                </a:solidFill>
              </a:defRPr>
            </a:lvl1pPr>
          </a:lstStyle>
          <a:p>
            <a:fld id="{9863E604-5B3B-2543-AC37-3DFB9A7C24F0}" type="slidenum">
              <a:rPr lang="es-ES" smtClean="0"/>
              <a:pPr/>
              <a:t>‹#›</a:t>
            </a:fld>
            <a:endParaRPr lang="es-E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66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4AC7-A6C9-3B11-83D2-E0EFCD05E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09822"/>
          </a:xfrm>
        </p:spPr>
        <p:txBody>
          <a:bodyPr/>
          <a:lstStyle/>
          <a:p>
            <a:r>
              <a:rPr lang="en-ES" dirty="0"/>
              <a:t>Jupyter Notebook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830C2-1EFD-20DB-8708-58284BFA6A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Sonia Estévez Martín</a:t>
            </a:r>
          </a:p>
        </p:txBody>
      </p:sp>
    </p:spTree>
    <p:extLst>
      <p:ext uri="{BB962C8B-B14F-4D97-AF65-F5344CB8AC3E}">
        <p14:creationId xmlns:p14="http://schemas.microsoft.com/office/powerpoint/2010/main" val="378127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7646-EBB2-7228-555A-241B31606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dirty="0"/>
              <a:t>¿Qué es Jupyter Notebook?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BDBDA-0AFD-CEE7-ADF0-75369215F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ES" b="1" dirty="0"/>
              <a:t>Entorno de desarrollo Jupyter Notebook</a:t>
            </a:r>
          </a:p>
          <a:p>
            <a:pPr marL="0" indent="0">
              <a:buNone/>
            </a:pPr>
            <a:r>
              <a:rPr lang="en-ES" dirty="0"/>
              <a:t>Jupyter Notebook es una aplicación web que permite crear documentos interactivos que combinan:</a:t>
            </a:r>
          </a:p>
          <a:p>
            <a:pPr lvl="1"/>
            <a:r>
              <a:rPr lang="en-ES" dirty="0"/>
              <a:t>Código Python ejecutable.</a:t>
            </a:r>
          </a:p>
          <a:p>
            <a:pPr lvl="1"/>
            <a:r>
              <a:rPr lang="en-ES" dirty="0"/>
              <a:t>Texto con formato.</a:t>
            </a:r>
          </a:p>
          <a:p>
            <a:pPr lvl="1"/>
            <a:r>
              <a:rPr lang="en-ES" dirty="0"/>
              <a:t>Fórmulas matemáticas (LaTeX).</a:t>
            </a:r>
          </a:p>
          <a:p>
            <a:pPr lvl="1"/>
            <a:r>
              <a:rPr lang="en-ES" dirty="0"/>
              <a:t>Gráficos e imágenes.</a:t>
            </a:r>
          </a:p>
          <a:p>
            <a:pPr lvl="1"/>
            <a:r>
              <a:rPr lang="en-ES" dirty="0"/>
              <a:t>Vídeos y otros elementos multimedia.</a:t>
            </a:r>
          </a:p>
          <a:p>
            <a:pPr marL="0" indent="0">
              <a:buNone/>
            </a:pPr>
            <a:r>
              <a:rPr lang="en-ES" dirty="0"/>
              <a:t>Todo se visualiza desde un navegador (Chrome, Firefox, Edge, Safari, etc.).</a:t>
            </a:r>
          </a:p>
          <a:p>
            <a:pPr marL="0" indent="0">
              <a:buNone/>
            </a:pPr>
            <a:r>
              <a:rPr lang="en-ES" dirty="0"/>
              <a:t>La gran ventaja es que el código, la explicación y los resultados aparecen juntos en el mismo documento.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140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DA583-918C-297F-7AA0-3B78E719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dirty="0"/>
              <a:t>¿Para qué sirve Jupyter Notebook?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34A18-252D-85FB-DA3A-6FC09A886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ES" dirty="0"/>
              <a:t>Importar datos.</a:t>
            </a:r>
          </a:p>
          <a:p>
            <a:pPr lvl="1"/>
            <a:r>
              <a:rPr lang="en-ES" dirty="0"/>
              <a:t>Exportar datos.</a:t>
            </a:r>
          </a:p>
          <a:p>
            <a:pPr lvl="1"/>
            <a:r>
              <a:rPr lang="en-ES" dirty="0"/>
              <a:t>Manipular y transformar información.</a:t>
            </a:r>
          </a:p>
          <a:p>
            <a:pPr lvl="1"/>
            <a:r>
              <a:rPr lang="en-ES" dirty="0"/>
              <a:t>Integrar código y documentación.</a:t>
            </a:r>
          </a:p>
          <a:p>
            <a:pPr lvl="1"/>
            <a:r>
              <a:rPr lang="en-ES" dirty="0"/>
              <a:t>Genera gráficos inmediatamente.</a:t>
            </a:r>
          </a:p>
          <a:p>
            <a:pPr lvl="1"/>
            <a:r>
              <a:rPr lang="en-ES" dirty="0"/>
              <a:t>Facilita la experimentación, pues permite ejecutar el código por partes.</a:t>
            </a:r>
          </a:p>
          <a:p>
            <a:pPr lvl="0"/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3909751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035AE-057F-535C-66A5-65C769470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60"/>
            <a:ext cx="4265428" cy="4351338"/>
          </a:xfrm>
        </p:spPr>
        <p:txBody>
          <a:bodyPr/>
          <a:lstStyle/>
          <a:p>
            <a:pPr marL="0" indent="0">
              <a:buNone/>
            </a:pPr>
            <a:r>
              <a:rPr lang="en-ES" b="1" dirty="0"/>
              <a:t>Opción 1. </a:t>
            </a:r>
          </a:p>
          <a:p>
            <a:pPr marL="0" indent="0">
              <a:buNone/>
            </a:pPr>
            <a:r>
              <a:rPr lang="en-ES" b="1" dirty="0"/>
              <a:t>Desde Anaconda Navigator</a:t>
            </a:r>
          </a:p>
          <a:p>
            <a:pPr lvl="1"/>
            <a:r>
              <a:rPr lang="en-ES" dirty="0"/>
              <a:t>Abrir Anaconda Navigator.</a:t>
            </a:r>
          </a:p>
          <a:p>
            <a:pPr lvl="1"/>
            <a:r>
              <a:rPr lang="en-ES" dirty="0"/>
              <a:t>Pulsar Launch en Jupyter Notebook.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Picture 3" descr="Anaconda navigator python 3 - vitatews">
            <a:extLst>
              <a:ext uri="{FF2B5EF4-FFF2-40B4-BE49-F238E27FC236}">
                <a16:creationId xmlns:a16="http://schemas.microsoft.com/office/drawing/2014/main" id="{8B41BE4B-4A2B-BD1C-9650-A41DB197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869" y="1567060"/>
            <a:ext cx="6503581" cy="492581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C716362-7850-C29A-F2C8-31BE8262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ES" b="1" dirty="0"/>
              <a:t>Iniciar Jupyter Notebook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516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1381-35B9-C48D-69E7-60E8E5A3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8CB7-9887-B70E-1304-2F0B4E90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b="1" dirty="0"/>
              <a:t>Iniciar Jupyter Notebook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ECF2-8714-3735-0B36-24B81C84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08" y="1463396"/>
            <a:ext cx="343608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ES" b="1" dirty="0"/>
              <a:t>Opción 2. </a:t>
            </a:r>
          </a:p>
          <a:p>
            <a:pPr marL="0" indent="0">
              <a:buNone/>
            </a:pPr>
            <a:r>
              <a:rPr lang="en-ES" b="1" dirty="0"/>
              <a:t>Desde la terminal o PowerShell</a:t>
            </a:r>
          </a:p>
          <a:p>
            <a:pPr lvl="1"/>
            <a:r>
              <a:rPr lang="en-ES" dirty="0"/>
              <a:t>Escribir: </a:t>
            </a:r>
          </a:p>
          <a:p>
            <a:pPr marL="457200" lvl="1" indent="0">
              <a:buNone/>
            </a:pPr>
            <a:r>
              <a:rPr lang="en-ES" dirty="0"/>
              <a:t>	</a:t>
            </a:r>
            <a:r>
              <a:rPr lang="en-ES" dirty="0">
                <a:solidFill>
                  <a:srgbClr val="FF0000"/>
                </a:solidFill>
              </a:rPr>
              <a:t>jupyter notebook</a:t>
            </a:r>
          </a:p>
          <a:p>
            <a:pPr lvl="1"/>
            <a:r>
              <a:rPr lang="en-ES" dirty="0"/>
              <a:t>Se abrirá automáticamente una pestaña del navegador.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BC4C0-69B4-C3A5-64FE-88AF5ABE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288" y="1341674"/>
            <a:ext cx="7772400" cy="459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BF7E-5B9E-5AE3-5F26-515ECB51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dirty="0"/>
              <a:t>¿Qué aparece al abrir Jupyter?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C4619-EA98-71F0-2A5F-42652AAD5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32548"/>
            <a:ext cx="612612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ES" dirty="0"/>
              <a:t>La interfaz inicial</a:t>
            </a:r>
          </a:p>
          <a:p>
            <a:pPr marL="0" indent="0">
              <a:buNone/>
            </a:pPr>
            <a:r>
              <a:rPr lang="en-ES" dirty="0"/>
              <a:t>La primera pantalla funciona como un explorador de archivos.</a:t>
            </a:r>
          </a:p>
          <a:p>
            <a:pPr marL="0" indent="0">
              <a:buNone/>
            </a:pPr>
            <a:r>
              <a:rPr lang="en-ES" dirty="0"/>
              <a:t>Desde ella podemos:</a:t>
            </a:r>
          </a:p>
          <a:p>
            <a:pPr lvl="1"/>
            <a:r>
              <a:rPr lang="en-ES" dirty="0"/>
              <a:t>Navegar entre carpetas.</a:t>
            </a:r>
          </a:p>
          <a:p>
            <a:pPr lvl="1"/>
            <a:r>
              <a:rPr lang="en-ES" dirty="0"/>
              <a:t>Crear nuevos cuadernos (.ipynb).</a:t>
            </a:r>
          </a:p>
          <a:p>
            <a:pPr lvl="1"/>
            <a:r>
              <a:rPr lang="en-ES" dirty="0"/>
              <a:t>Abrir cuadernos existentes (.ipynb).</a:t>
            </a:r>
          </a:p>
          <a:p>
            <a:pPr lvl="1"/>
            <a:r>
              <a:rPr lang="en-ES" dirty="0"/>
              <a:t>Gestionar archivos del proyecto.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5503F-079F-4B63-E7E9-EEC268E4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973" y="1414734"/>
            <a:ext cx="3845250" cy="432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3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8E7C-9F2F-4A13-0A83-7CA425FF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dirty="0"/>
              <a:t>Mi primer Notebook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830A-1957-3E1B-F1D8-66FB6FB7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33523"/>
            <a:ext cx="2842846" cy="3162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Navegamos hasta la carpeta de nuestro trabajo y creamos nuestro primer Notebook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158A37-8342-AA24-1C3A-D0940C1FE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599" y="1333522"/>
            <a:ext cx="7772400" cy="316215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6523DE-A11F-2C47-7A2D-834C8EF84E41}"/>
              </a:ext>
            </a:extLst>
          </p:cNvPr>
          <p:cNvSpPr txBox="1">
            <a:spLocks/>
          </p:cNvSpPr>
          <p:nvPr/>
        </p:nvSpPr>
        <p:spPr>
          <a:xfrm>
            <a:off x="920262" y="4783015"/>
            <a:ext cx="9501554" cy="1675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ES" sz="2200" dirty="0"/>
              <a:t>Un Notebook está formado por celdas de dos tipos: </a:t>
            </a:r>
          </a:p>
          <a:p>
            <a:pPr lvl="1"/>
            <a:r>
              <a:rPr lang="en-ES" dirty="0"/>
              <a:t>código (code):  Ejecuta código Python.</a:t>
            </a:r>
          </a:p>
          <a:p>
            <a:pPr lvl="1"/>
            <a:r>
              <a:rPr lang="en-ES" dirty="0"/>
              <a:t>texto (markdown): Escribe texto, listas, títulos y fórmulas.</a:t>
            </a:r>
          </a:p>
          <a:p>
            <a:endParaRPr lang="en-E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402003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29A6-4D67-65F7-2940-D39FE7B9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Mi primer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97A-9E81-06EB-5DF1-AFD1CE2BA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212112"/>
            <a:ext cx="6071286" cy="472912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ES" dirty="0"/>
              <a:t>Contiene celdas de tipo:</a:t>
            </a:r>
          </a:p>
          <a:p>
            <a:pPr lvl="1"/>
            <a:r>
              <a:rPr lang="en-ES" dirty="0"/>
              <a:t>Celda Markdown: </a:t>
            </a:r>
          </a:p>
          <a:p>
            <a:pPr marL="0" indent="0">
              <a:buNone/>
            </a:pPr>
            <a:r>
              <a:rPr lang="en-ES" dirty="0"/>
              <a:t>	# Mi primer Notebook</a:t>
            </a:r>
          </a:p>
          <a:p>
            <a:pPr lvl="1"/>
            <a:r>
              <a:rPr lang="en-ES" dirty="0"/>
              <a:t>Celda de código: 	</a:t>
            </a:r>
          </a:p>
          <a:p>
            <a:pPr marL="0" indent="0">
              <a:buNone/>
            </a:pPr>
            <a:r>
              <a:rPr lang="en-ES" dirty="0"/>
              <a:t>	print("Hola mundo")</a:t>
            </a:r>
          </a:p>
          <a:p>
            <a:pPr marL="0" indent="0">
              <a:buNone/>
            </a:pPr>
            <a:r>
              <a:rPr lang="es-ES" sz="1800" dirty="0"/>
              <a:t>      La celda activa tiene una barra azul a la izquierda</a:t>
            </a:r>
          </a:p>
          <a:p>
            <a:pPr marL="0" indent="0">
              <a:buNone/>
            </a:pPr>
            <a:r>
              <a:rPr lang="en-ES" dirty="0"/>
              <a:t>Iconos</a:t>
            </a:r>
          </a:p>
          <a:p>
            <a:pPr lvl="1"/>
            <a:r>
              <a:rPr lang="es-ES" dirty="0"/>
              <a:t>Las celdas se añaden con el símbolo ´+´</a:t>
            </a:r>
          </a:p>
          <a:p>
            <a:pPr lvl="1"/>
            <a:r>
              <a:rPr lang="es-ES" dirty="0"/>
              <a:t>También se pueden cortar, copiar y pegar</a:t>
            </a:r>
          </a:p>
          <a:p>
            <a:pPr lvl="1"/>
            <a:r>
              <a:rPr lang="es-ES" dirty="0"/>
              <a:t>Para procesar el código hay que pulsar run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699C3-E57A-8AC3-01CD-AF631937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010" y="1426109"/>
            <a:ext cx="5375189" cy="437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940C8-9E14-5628-CAEF-CDD9CF8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MarkDown</a:t>
            </a:r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19832-CE96-9840-F29F-321733CC6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dirty="0"/>
              <a:t>Un lenguaje de marcado sencillo para crear documentos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910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7725F-4B17-EE2F-5091-37519C81B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¿Qué es Markdown?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2BE6-5993-BD0A-4CE1-BF8D6CAC2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2500"/>
            <a:ext cx="10515600" cy="3895848"/>
          </a:xfrm>
        </p:spPr>
        <p:txBody>
          <a:bodyPr/>
          <a:lstStyle/>
          <a:p>
            <a:pPr lvl="0"/>
            <a:r>
              <a:rPr lang="en-ES" dirty="0"/>
              <a:t>Lenguaje de marcado ligero.</a:t>
            </a:r>
          </a:p>
          <a:p>
            <a:pPr lvl="0"/>
            <a:r>
              <a:rPr lang="en-ES" dirty="0"/>
              <a:t>Fácil de leer y escribir.</a:t>
            </a:r>
          </a:p>
          <a:p>
            <a:pPr lvl="0"/>
            <a:r>
              <a:rPr lang="en-ES" dirty="0"/>
              <a:t>Se convierte en HTML, PDF y presentaciones.</a:t>
            </a:r>
          </a:p>
          <a:p>
            <a:pPr lvl="0"/>
            <a:r>
              <a:rPr lang="en-ES" dirty="0"/>
              <a:t>Muy utilizado en GitHub, Jupyter y documentación técnica.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461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85CDB-3D54-F2E6-512E-9D6EBB87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4C4C-4F79-C9C5-531D-A43D9C4F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sz="4000" dirty="0"/>
              <a:t>Markdown - Encabezados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C3481-00CC-0F03-54DC-75011A997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539"/>
            <a:ext cx="6031523" cy="1190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ES" sz="1800" dirty="0"/>
              <a:t>Encabezados (#) crea títulos. </a:t>
            </a:r>
          </a:p>
          <a:p>
            <a:pPr marL="0" indent="0">
              <a:buNone/>
            </a:pPr>
            <a:r>
              <a:rPr lang="en-ES" sz="1800" dirty="0"/>
              <a:t>Cuantos más #, menor es el nivel del encabezado.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B6E539F-2FDC-7C6F-F440-0FB27C05217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83877"/>
          <a:ext cx="4402016" cy="3200400"/>
        </p:xfrm>
        <a:graphic>
          <a:graphicData uri="http://schemas.openxmlformats.org/drawingml/2006/table">
            <a:tbl>
              <a:tblPr/>
              <a:tblGrid>
                <a:gridCol w="2201008">
                  <a:extLst>
                    <a:ext uri="{9D8B030D-6E8A-4147-A177-3AD203B41FA5}">
                      <a16:colId xmlns:a16="http://schemas.microsoft.com/office/drawing/2014/main" val="3315975156"/>
                    </a:ext>
                  </a:extLst>
                </a:gridCol>
                <a:gridCol w="2201008">
                  <a:extLst>
                    <a:ext uri="{9D8B030D-6E8A-4147-A177-3AD203B41FA5}">
                      <a16:colId xmlns:a16="http://schemas.microsoft.com/office/drawing/2014/main" val="335922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/>
                        <a:t>Markdown</a:t>
                      </a:r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/>
                        <a:t>Resultado</a:t>
                      </a:r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994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>
                          <a:latin typeface="Courier New" panose="02070309020205020404" pitchFamily="49" charset="0"/>
                        </a:rPr>
                        <a:t># Título 1</a:t>
                      </a:r>
                      <a:endParaRPr lang="en-ES" dirty="0"/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/>
                        <a:t>Título principal</a:t>
                      </a:r>
                    </a:p>
                    <a:p>
                      <a:pPr>
                        <a:buNone/>
                      </a:pPr>
                      <a:endParaRPr lang="en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38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>
                          <a:latin typeface="Courier New" panose="02070309020205020404" pitchFamily="49" charset="0"/>
                        </a:rPr>
                        <a:t>## Título 2</a:t>
                      </a:r>
                      <a:endParaRPr lang="en-ES" dirty="0"/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/>
                        <a:t>Subtítulo</a:t>
                      </a:r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75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>
                          <a:latin typeface="Courier New" panose="02070309020205020404" pitchFamily="49" charset="0"/>
                        </a:rPr>
                        <a:t>### Título 3</a:t>
                      </a:r>
                      <a:endParaRPr lang="en-ES"/>
                    </a:p>
                    <a:p>
                      <a:pPr>
                        <a:buNone/>
                      </a:pPr>
                      <a:endParaRPr lang="en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/>
                        <a:t>Apartado</a:t>
                      </a:r>
                    </a:p>
                    <a:p>
                      <a:pPr>
                        <a:buNone/>
                      </a:pPr>
                      <a:endParaRPr lang="en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702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>
                          <a:latin typeface="Courier New" panose="02070309020205020404" pitchFamily="49" charset="0"/>
                        </a:rPr>
                        <a:t>#### Título 4</a:t>
                      </a:r>
                      <a:endParaRPr lang="en-ES"/>
                    </a:p>
                    <a:p>
                      <a:pPr>
                        <a:buNone/>
                      </a:pPr>
                      <a:endParaRPr lang="en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/>
                        <a:t>Subapartado</a:t>
                      </a:r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237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EE5147C-E8D5-5CDD-3258-A7CA24135BDC}"/>
              </a:ext>
            </a:extLst>
          </p:cNvPr>
          <p:cNvGrpSpPr/>
          <p:nvPr/>
        </p:nvGrpSpPr>
        <p:grpSpPr>
          <a:xfrm>
            <a:off x="7523285" y="1569343"/>
            <a:ext cx="3830515" cy="1573990"/>
            <a:chOff x="6869723" y="3169207"/>
            <a:chExt cx="3830515" cy="15739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D25602-121D-B804-5F79-524812F6C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9723" y="3169207"/>
              <a:ext cx="3036277" cy="157399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A70AB64-EBDD-CDF4-6A33-0403936AE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11762" y="3677034"/>
              <a:ext cx="1588476" cy="0"/>
            </a:xfrm>
            <a:prstGeom prst="straightConnector1">
              <a:avLst/>
            </a:prstGeom>
            <a:ln w="412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DDAD809-BCF0-195D-A567-6BAAD690E78E}"/>
              </a:ext>
            </a:extLst>
          </p:cNvPr>
          <p:cNvGrpSpPr/>
          <p:nvPr/>
        </p:nvGrpSpPr>
        <p:grpSpPr>
          <a:xfrm>
            <a:off x="7523285" y="3854830"/>
            <a:ext cx="4495801" cy="1776046"/>
            <a:chOff x="6869723" y="4954425"/>
            <a:chExt cx="4495801" cy="177604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EA5334-A8B8-6900-9F7F-C0EE057EE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9723" y="4954425"/>
              <a:ext cx="3552092" cy="177604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57D6EB7-28EA-548D-7103-096AD0310C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1138" y="6410814"/>
              <a:ext cx="1084386" cy="0"/>
            </a:xfrm>
            <a:prstGeom prst="straightConnector1">
              <a:avLst/>
            </a:prstGeom>
            <a:ln w="412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0203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476C8-2F1D-22B3-86FF-D53A2D61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E17A-6BEA-E1A8-6AC5-76469E93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sz="4000" dirty="0"/>
              <a:t>Markdown - Cambiar el formato</a:t>
            </a:r>
            <a:endParaRPr lang="es-E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F7238A7-AE36-45E4-32FA-6210916124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161" r="-1" b="33436"/>
          <a:stretch>
            <a:fillRect/>
          </a:stretch>
        </p:blipFill>
        <p:spPr>
          <a:xfrm>
            <a:off x="4300894" y="4732420"/>
            <a:ext cx="1368669" cy="131896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081F210-A07C-7306-05EE-4E530504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889" y="3429000"/>
            <a:ext cx="3036277" cy="15739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697110-5BD0-F657-D7DD-B6750CCCDD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636"/>
          <a:stretch>
            <a:fillRect/>
          </a:stretch>
        </p:blipFill>
        <p:spPr>
          <a:xfrm>
            <a:off x="7168651" y="5438827"/>
            <a:ext cx="3552092" cy="681363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929F7A-D3AD-7FC3-EADB-77B93878312E}"/>
              </a:ext>
            </a:extLst>
          </p:cNvPr>
          <p:cNvCxnSpPr>
            <a:cxnSpLocks/>
          </p:cNvCxnSpPr>
          <p:nvPr/>
        </p:nvCxnSpPr>
        <p:spPr>
          <a:xfrm flipH="1">
            <a:off x="9463454" y="3571735"/>
            <a:ext cx="1588476" cy="0"/>
          </a:xfrm>
          <a:prstGeom prst="straightConnector1">
            <a:avLst/>
          </a:prstGeom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7C50A3-43B4-E93C-52FE-F67C3167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885"/>
            <a:ext cx="10181491" cy="1898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ES" sz="1800" dirty="0"/>
              <a:t>Si no puedo ver el texto formateado, es posible que esté escribiendo texto markdown en una celda de código.</a:t>
            </a:r>
          </a:p>
          <a:p>
            <a:pPr marL="0" indent="0">
              <a:buNone/>
            </a:pPr>
            <a:r>
              <a:rPr lang="en-ES" sz="1800" dirty="0"/>
              <a:t>La solución es muy sencilla, en la barra de los iconos podemos cambiar el formato de la celda.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99D687-F32E-09B2-5D72-50F242704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2" y="3677034"/>
            <a:ext cx="5064351" cy="482600"/>
          </a:xfrm>
          <a:prstGeom prst="rect">
            <a:avLst/>
          </a:prstGeom>
        </p:spPr>
      </p:pic>
      <p:sp>
        <p:nvSpPr>
          <p:cNvPr id="8" name="Frame 7">
            <a:extLst>
              <a:ext uri="{FF2B5EF4-FFF2-40B4-BE49-F238E27FC236}">
                <a16:creationId xmlns:a16="http://schemas.microsoft.com/office/drawing/2014/main" id="{DBC80AEE-B7DD-9D02-5302-09C94B67F092}"/>
              </a:ext>
            </a:extLst>
          </p:cNvPr>
          <p:cNvSpPr/>
          <p:nvPr/>
        </p:nvSpPr>
        <p:spPr>
          <a:xfrm>
            <a:off x="4528061" y="3429000"/>
            <a:ext cx="1629508" cy="890954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CD721C2-36D3-2612-A9A5-0BD0BAEC5AD5}"/>
              </a:ext>
            </a:extLst>
          </p:cNvPr>
          <p:cNvSpPr txBox="1">
            <a:spLocks/>
          </p:cNvSpPr>
          <p:nvPr/>
        </p:nvSpPr>
        <p:spPr>
          <a:xfrm>
            <a:off x="970082" y="4583773"/>
            <a:ext cx="3519849" cy="1318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ES" sz="1800" dirty="0"/>
              <a:t>Seleccionamos Markdown</a:t>
            </a:r>
          </a:p>
        </p:txBody>
      </p:sp>
    </p:spTree>
    <p:extLst>
      <p:ext uri="{BB962C8B-B14F-4D97-AF65-F5344CB8AC3E}">
        <p14:creationId xmlns:p14="http://schemas.microsoft.com/office/powerpoint/2010/main" val="836324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09F5-2B25-A125-5EE9-BC0C653E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Formato básico</a:t>
            </a:r>
            <a:endParaRPr lang="es-E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2D4EF6ED-1A93-496D-D31F-D8CE2C738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10948988" cy="3878681"/>
          </a:xfrm>
        </p:spPr>
        <p:txBody>
          <a:bodyPr/>
          <a:lstStyle/>
          <a:p>
            <a:r>
              <a:rPr lang="en-ES" dirty="0"/>
              <a:t>Negrita (**)</a:t>
            </a:r>
          </a:p>
          <a:p>
            <a:r>
              <a:rPr lang="en-ES" dirty="0"/>
              <a:t>Cursiva (*)</a:t>
            </a:r>
          </a:p>
          <a:p>
            <a:r>
              <a:rPr lang="en-ES" dirty="0"/>
              <a:t>Negrita y cursiva (***)</a:t>
            </a:r>
          </a:p>
          <a:p>
            <a:r>
              <a:rPr lang="en-ES" dirty="0"/>
              <a:t>Código (`): Las comillas invertidas (backticks) sirven para mostrar código.</a:t>
            </a:r>
          </a:p>
          <a:p>
            <a:pPr marL="0" indent="0">
              <a:buNone/>
            </a:pPr>
            <a:r>
              <a:rPr lang="en-E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La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instrucción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*print*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imprime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lo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hay entre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comillas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`print("Hola")`.</a:t>
            </a:r>
            <a:endParaRPr lang="es-E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F995A0C-4F3A-B35C-7769-70B4216C8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5243513"/>
            <a:ext cx="7772400" cy="52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3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B531-E5F0-771D-DD8E-13CC211B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A6892-6E37-F11F-3CA8-1161DC04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Formato básico</a:t>
            </a:r>
            <a:endParaRPr lang="es-E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F56E6BF8-4C52-6795-FE15-C17A58C8B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10948988" cy="1292643"/>
          </a:xfrm>
        </p:spPr>
        <p:txBody>
          <a:bodyPr/>
          <a:lstStyle/>
          <a:p>
            <a:pPr marL="0" indent="0">
              <a:buNone/>
            </a:pPr>
            <a:r>
              <a:rPr lang="en-ES" dirty="0"/>
              <a:t>Bloques de código: Tres comillas invertidas crean un bloque completo.</a:t>
            </a:r>
          </a:p>
          <a:p>
            <a:endParaRPr lang="es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854027-380B-0D4E-1405-92015C0E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225" y="3338931"/>
            <a:ext cx="3632200" cy="198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17D275-05E4-E528-FEF4-824F11468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1" y="3296068"/>
            <a:ext cx="39624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10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04DA-C471-830D-DD1B-0406DC41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Listas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6147D-7E93-106E-C92B-F9A1DFED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4998"/>
            <a:ext cx="4781550" cy="4213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 escribe una serie de entradas en formato texto.</a:t>
            </a:r>
          </a:p>
          <a:p>
            <a:pPr lvl="1"/>
            <a:r>
              <a:rPr lang="es-ES" dirty="0"/>
              <a:t>‘-’  para los </a:t>
            </a:r>
            <a:r>
              <a:rPr lang="es-ES" dirty="0" err="1"/>
              <a:t>bullets</a:t>
            </a:r>
            <a:r>
              <a:rPr lang="es-ES" dirty="0"/>
              <a:t>		</a:t>
            </a:r>
          </a:p>
          <a:p>
            <a:pPr lvl="1"/>
            <a:r>
              <a:rPr lang="es-ES" dirty="0"/>
              <a:t>Números para las listas enumeradas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EDDF2-9ABE-D310-90CD-D11552BDD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04999"/>
            <a:ext cx="2346325" cy="2652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1FC39-C165-47B9-7385-A48FD71C8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95" y="1904999"/>
            <a:ext cx="1577466" cy="273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87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0796-D5B6-0BDC-4AB9-162C8C88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Tablas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7DA7D-F63A-69CF-DA57-360924C67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74" y="1630817"/>
            <a:ext cx="5257800" cy="37598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ES" dirty="0"/>
              <a:t>Las tablas e construyen con:</a:t>
            </a:r>
          </a:p>
          <a:p>
            <a:pPr lvl="1"/>
            <a:r>
              <a:rPr lang="en-ES" dirty="0"/>
              <a:t>Barras verticales (|) y </a:t>
            </a:r>
          </a:p>
          <a:p>
            <a:pPr lvl="1"/>
            <a:r>
              <a:rPr lang="en-ES" dirty="0"/>
              <a:t>Guiones (-).</a:t>
            </a:r>
          </a:p>
          <a:p>
            <a:pPr lvl="1"/>
            <a:endParaRPr lang="en-ES" dirty="0"/>
          </a:p>
          <a:p>
            <a:pPr marL="0" indent="0">
              <a:buNone/>
            </a:pPr>
            <a:r>
              <a:rPr lang="en-ES" dirty="0"/>
              <a:t>Las columnas se alinean con (:).</a:t>
            </a:r>
          </a:p>
          <a:p>
            <a:pPr lvl="1"/>
            <a:r>
              <a:rPr lang="en-ES" dirty="0"/>
              <a:t>Izquierda :---</a:t>
            </a:r>
          </a:p>
          <a:p>
            <a:pPr lvl="1"/>
            <a:r>
              <a:rPr lang="en-ES" dirty="0"/>
              <a:t>Centrada  :---:</a:t>
            </a:r>
          </a:p>
          <a:p>
            <a:pPr lvl="1"/>
            <a:r>
              <a:rPr lang="en-ES" dirty="0"/>
              <a:t>Derecha   ---: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C52590-50F7-9439-EB58-456BFB8C4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550" y="3829050"/>
            <a:ext cx="3263900" cy="177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541637-EF52-D781-2C96-9471D9E6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950" y="1250950"/>
            <a:ext cx="44831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32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5B322-F92C-E539-30FA-5C482E45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saltos de línea y enlaces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41764-10D1-90DB-9E30-630901496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4457700" cy="4753516"/>
          </a:xfrm>
        </p:spPr>
        <p:txBody>
          <a:bodyPr/>
          <a:lstStyle/>
          <a:p>
            <a:r>
              <a:rPr lang="en-ES" dirty="0"/>
              <a:t>Markdown estándar no admite saltos de línea dentro de una celda, pero muchos editores permiten usar &lt;br&gt;</a:t>
            </a:r>
          </a:p>
          <a:p>
            <a:r>
              <a:rPr lang="en-ES" dirty="0"/>
              <a:t>Los enlaces a páginas web se escriben [texto](url)</a:t>
            </a: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1DD22-6158-B049-1858-C062977F7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79948"/>
            <a:ext cx="4140200" cy="2438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C7FFD9-ED6B-78E2-B669-189BF5CCA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4832"/>
            <a:ext cx="52832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97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07E1-E8C4-A6DE-5A6A-E071116A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Código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C8273-3C2C-E191-40F8-94AAE291F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387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3AE7-CEC6-614B-B259-779969FC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Código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3CCA-08AA-F52C-367B-4874AF8F3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ES" dirty="0"/>
              <a:t>Python es un lenguaje de programación de alto nivel, interpretado y de propósito general, creado por Guido van Rossum y publicado por primera vez en 1991. Se caracteriza por tener una sintaxis sencilla y muy cercana al lenguaje natural, lo que facilita su aprendizaje y el desarrollo de programas.</a:t>
            </a:r>
          </a:p>
          <a:p>
            <a:r>
              <a:rPr lang="en-ES" dirty="0"/>
              <a:t>Hoy en día es uno de los lenguajes más utilizados del mundo porque permite desarrollar desde pequeños scripts de automatización hasta aplicaciones web, análisis de datos, inteligencia artificial y computación científica.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3281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48F5-1067-6B2E-73FF-1224FE82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Código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DC864-F00D-7E73-13E3-962137FEA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ES" b="1" dirty="0"/>
              <a:t>Características principales</a:t>
            </a:r>
          </a:p>
          <a:p>
            <a:pPr lvl="0"/>
            <a:r>
              <a:rPr lang="en-ES" dirty="0"/>
              <a:t>Sintaxis clara y legible, basada en la indentación.</a:t>
            </a:r>
          </a:p>
          <a:p>
            <a:pPr lvl="0"/>
            <a:r>
              <a:rPr lang="en-ES" dirty="0"/>
              <a:t>Interpretado, por lo que no necesita una compilación previa para ejecutarse.</a:t>
            </a:r>
          </a:p>
          <a:p>
            <a:pPr lvl="0"/>
            <a:r>
              <a:rPr lang="en-ES" dirty="0"/>
              <a:t>Multiplataforma, funciona en Windows, macOS y Linux.</a:t>
            </a:r>
          </a:p>
          <a:p>
            <a:pPr lvl="0"/>
            <a:r>
              <a:rPr lang="en-ES" dirty="0"/>
              <a:t>Gran cantidad de bibliotecas, tanto estándar como de terceros.</a:t>
            </a:r>
          </a:p>
          <a:p>
            <a:pPr lvl="0"/>
            <a:r>
              <a:rPr lang="en-ES" dirty="0"/>
              <a:t>Código abierto, con una amplia comunidad de desarrolladores.</a:t>
            </a:r>
          </a:p>
        </p:txBody>
      </p:sp>
    </p:spTree>
    <p:extLst>
      <p:ext uri="{BB962C8B-B14F-4D97-AF65-F5344CB8AC3E}">
        <p14:creationId xmlns:p14="http://schemas.microsoft.com/office/powerpoint/2010/main" val="2681057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0360-5B50-0496-A024-5F990CF1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D4FE-E8DF-5B06-59BC-BD61D37C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Código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25D7D-1515-FB3E-03D4-A3421A4A1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1314"/>
            <a:ext cx="10515600" cy="1915886"/>
          </a:xfrm>
        </p:spPr>
        <p:txBody>
          <a:bodyPr/>
          <a:lstStyle/>
          <a:p>
            <a:pPr marL="0" indent="0" algn="ctr">
              <a:buNone/>
            </a:pPr>
            <a:r>
              <a:rPr lang="en-ES" dirty="0"/>
              <a:t>En las siguientes tranparecias se explicará cómo escribir programas en </a:t>
            </a:r>
            <a:r>
              <a:rPr lang="en-ES"/>
              <a:t>código python. </a:t>
            </a:r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1522808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769</Words>
  <Application>Microsoft Macintosh PowerPoint</Application>
  <PresentationFormat>Widescreen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Consolas</vt:lpstr>
      <vt:lpstr>Courier New</vt:lpstr>
      <vt:lpstr>Verdana</vt:lpstr>
      <vt:lpstr>Office Theme</vt:lpstr>
      <vt:lpstr>Jupyter Notebook</vt:lpstr>
      <vt:lpstr>¿Qué es Jupyter Notebook?</vt:lpstr>
      <vt:lpstr>¿Para qué sirve Jupyter Notebook?</vt:lpstr>
      <vt:lpstr>Iniciar Jupyter Notebook</vt:lpstr>
      <vt:lpstr>Iniciar Jupyter Notebook</vt:lpstr>
      <vt:lpstr>¿Qué aparece al abrir Jupyter?</vt:lpstr>
      <vt:lpstr>Mi primer Notebook</vt:lpstr>
      <vt:lpstr>Mi primer Notebook</vt:lpstr>
      <vt:lpstr>MarkDown</vt:lpstr>
      <vt:lpstr>¿Qué es Markdown?</vt:lpstr>
      <vt:lpstr>Markdown - Encabezados</vt:lpstr>
      <vt:lpstr>Markdown - Cambiar el formato</vt:lpstr>
      <vt:lpstr>Markdown - Formato básico</vt:lpstr>
      <vt:lpstr>Markdown - Formato básico</vt:lpstr>
      <vt:lpstr>Markdown - Listas</vt:lpstr>
      <vt:lpstr>Markdown - Tablas</vt:lpstr>
      <vt:lpstr>Markdown - saltos de línea y enlaces</vt:lpstr>
      <vt:lpstr>Código Python</vt:lpstr>
      <vt:lpstr>Código Python</vt:lpstr>
      <vt:lpstr>Código Python</vt:lpstr>
      <vt:lpstr>Código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SONIA ESTEVEZ MARTIN</dc:creator>
  <cp:lastModifiedBy>SONIA ESTEVEZ MARTIN</cp:lastModifiedBy>
  <cp:revision>4</cp:revision>
  <dcterms:created xsi:type="dcterms:W3CDTF">2026-08-31T13:09:39Z</dcterms:created>
  <dcterms:modified xsi:type="dcterms:W3CDTF">2026-09-07T15:24:35Z</dcterms:modified>
</cp:coreProperties>
</file>