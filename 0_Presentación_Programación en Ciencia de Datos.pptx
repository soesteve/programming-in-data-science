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8" r:id="rId2"/>
    <p:sldId id="268" r:id="rId3"/>
    <p:sldId id="265" r:id="rId4"/>
    <p:sldId id="266" r:id="rId5"/>
    <p:sldId id="269" r:id="rId6"/>
    <p:sldId id="270" r:id="rId7"/>
    <p:sldId id="271" r:id="rId8"/>
    <p:sldId id="263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97" autoAdjust="0"/>
    <p:restoredTop sz="85198"/>
  </p:normalViewPr>
  <p:slideViewPr>
    <p:cSldViewPr snapToGrid="0">
      <p:cViewPr varScale="1">
        <p:scale>
          <a:sx n="88" d="100"/>
          <a:sy n="88" d="100"/>
        </p:scale>
        <p:origin x="192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B5D0C-FB89-426A-BDB3-9A7787355CF6}" type="datetimeFigureOut">
              <a:rPr lang="es-ES" smtClean="0"/>
              <a:t>7/9/26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5A5A7-F342-4559-B4C0-B2B5679DF7B9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14752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FFFFFF"/>
                </a:solidFill>
              </a:rPr>
              <a:t>Crear dashboards con R y RStudio para publicar resultados científicos</a:t>
            </a: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5A5A7-F342-4559-B4C0-B2B5679DF7B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3772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DFF5D-4665-2574-AB2A-64D05F616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17545D-42D4-2D15-D875-A9A83EFF0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13A9B-1062-1BEB-93F7-249DCB00B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F0650-1E61-5039-11FA-A4A4FB3A1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5A5A7-F342-4559-B4C0-B2B5679DF7B9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5989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6B43C-11F9-2192-0383-1C3156E99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6625D-AEC2-6CCE-B514-EE8BC0626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48818-7997-E087-BA0C-5444E2CC7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3DCE8-7BEF-D245-E3EE-E65B541C6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5A5A7-F342-4559-B4C0-B2B5679DF7B9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08228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5F829-7CBA-CFED-58AA-CF3A3E486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519531-0417-027D-5C2E-DACF7A899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94500-CD31-4C80-EAB9-B3EF179A4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FBD7B-4FBD-C291-D346-24DC65564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5A5A7-F342-4559-B4C0-B2B5679DF7B9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96600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E2197-B5E4-B24C-A4EA-F1AEC25B7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638FA4-0288-095A-549C-D781B3E72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2FD770-44DD-5C33-3AC8-416D96F0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B6B19-AA4D-C34D-938C-714B8F8B15BF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871365-5264-1D3C-D3FA-20ADCE766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0474B1-8BEE-8B8C-A756-3984FF342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73321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E4E74-2E6B-FA02-9014-E47D6BB25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BF58C5-BFFD-1C79-2BD1-ECF47500C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F675AA-E590-29C9-F1EC-759950B7B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59DBD-4174-E94F-A663-EB0C45B45F3B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7DE8B2-36A3-F598-E6F1-ABFE6576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587D2A-2F23-9195-3428-EFA4E0692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3622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52E8FC-7CDE-100F-8601-2C7ACC320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7C7E8C-B229-051F-F36A-3C699905B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1BF7E1-1BEA-9063-9589-B37D72D0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38180-28C2-E245-8C90-A2196D4A8CFE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9B2A8E-564F-EA7B-914C-89BBF450F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7C2493-5245-0ED4-5C92-DC9C4E73B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18249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38651-231F-5C34-60B5-935D32490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AABA13-DA33-B67C-CE72-15716FBB8F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586766-3761-283F-164B-D87062EAB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F7929E-149F-720B-C735-01A207804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3E487-4F0F-BE41-AD26-99917AD92DF6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CB8881-B51D-7FAE-8D3C-4D8DFF56F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C77753-1091-0C65-2152-CED432D8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25628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B23D0-9699-D2E9-A27D-21055548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18CC9F-37D0-1651-44E3-95C14D8C2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528990-F0D1-13A4-3440-16FCF5941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968F5A8-2088-177C-CAA1-F1C43DBA3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2A351A-7691-14FD-D18C-2375835C2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4344802-1BF2-CB0E-A6C8-0E54230FB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E9164-1A58-9C40-8CB1-E774C890570F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111F23-FD99-5273-017C-960DF25DF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A83CF4-656D-67FC-BF04-03B0BCE09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2967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313E8F-41E6-7A77-ADC5-B2CA631A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C23EADA-7889-3D57-A3E0-E20BB7B9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3A3E2-45BD-5249-B03F-40F4EBECD0CD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64D924D-247A-0D24-0BC4-CA5AEEE9F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236FD14-B266-96DC-15F2-5E3F2731A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48859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863DDF9-C36A-A7C9-6C3C-C76B75886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7305C-E20C-FE4C-900B-3DD9FF3F20F6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22B212-DEC0-F96E-4570-027DF695D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3C1CE2-E752-6DE2-1DEE-09A3E4CE3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4367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74493-AD71-09B9-5551-748C9B42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56E1BB-AA9A-3BAD-BD90-50BAC85C7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986107-EF08-E1E0-0D41-FDBB2D8D3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EA0152-AE04-578F-0075-EE4A62350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7764-809B-A64C-B813-40903E2A4C09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1CB7FA-C6D8-FDC8-C3DA-8BE85B10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3C5367-0E66-D29B-5456-94CDA7D2C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8530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41596-0307-2723-FF08-89114FA9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FC02D77-224A-B07D-566C-F9976AD739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77ACAA-197B-C1C3-408F-35BB4C93D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ECE3C7-61F0-AF64-0512-1533CA4F1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70B16-AC65-FF43-A087-37F80EF88118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34E8A0-2B81-8458-4C60-51AA55C06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07F507-C442-0C47-DF99-C4BBFB4CC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95687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D660D-A275-EE6F-9AB7-939606D2B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929E9-F850-3A58-1BE1-C4B426B17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6F9AB2-5132-DC2B-D45D-99B352F13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DADFD-6972-7C4C-9C20-DC69861E77DE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FC3EF0-E994-D444-71E4-F05F874F9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CD642F-7E79-1C7E-633C-B2A4492B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79428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A3F4D3-4C29-8365-7AA7-333ED7A65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4ED9CB-577E-5B16-61D6-481B975F1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105ED6-E703-84AC-398E-B43ED4614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1052B-ADA0-344C-A915-E46137EFB71E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105FF3-97B6-15D2-12D0-34DACC877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672C9-5ED5-97DF-72C9-3B118421B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57810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A9CEBF3-2197-2D98-7D8B-428831DC9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649199-4B79-A17E-6EF8-2CD473313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17CA53-799B-6C57-BBCF-939CEEA2C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25CB91-F307-9A4B-ABA1-A6A8BA250802}" type="datetime1">
              <a:rPr lang="es-ES_tradnl" smtClean="0"/>
              <a:t>7/9/26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0E1D95-5605-C4E5-CE8D-1009B32E2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DDDF9D-11E3-8F45-57FC-BD0CF2678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5D05F-6072-4B4E-9981-AFD8EE10E932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814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studiosestadisticos.ucm.es/estudios/2026-27/master-cienciadedatos-plan-610503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hyperlink" Target="https://estudiosestadisticos.ucm.es/master-cienciadato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ucm.es/prof-sonia-estvez-martn" TargetMode="External"/><Relationship Id="rId2" Type="http://schemas.openxmlformats.org/officeDocument/2006/relationships/hyperlink" Target="mailto:soesteve@ucm.e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studiosestadisticos.ucm.es/estudios/2026-27/master-cienciadedatos-plan-610503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Julia_(lenguaje_de_programaci%C3%B3n)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s.wikipedia.org/wiki/R_(lenguaje_de_programaci%C3%B3n)" TargetMode="External"/><Relationship Id="rId4" Type="http://schemas.openxmlformats.org/officeDocument/2006/relationships/hyperlink" Target="https://es.wikipedia.org/wiki/Pytho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naconda.com/downloa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B87C619C-EBAB-488E-96B9-153AA4C9B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130DA1C1-36FD-41D8-9826-EE797BF39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53312" cy="6858000"/>
          </a:xfrm>
          <a:custGeom>
            <a:avLst/>
            <a:gdLst>
              <a:gd name="connsiteX0" fmla="*/ 0 w 7433452"/>
              <a:gd name="connsiteY0" fmla="*/ 0 h 6858000"/>
              <a:gd name="connsiteX1" fmla="*/ 1592736 w 7433452"/>
              <a:gd name="connsiteY1" fmla="*/ 0 h 6858000"/>
              <a:gd name="connsiteX2" fmla="*/ 2171700 w 7433452"/>
              <a:gd name="connsiteY2" fmla="*/ 0 h 6858000"/>
              <a:gd name="connsiteX3" fmla="*/ 2762696 w 7433452"/>
              <a:gd name="connsiteY3" fmla="*/ 0 h 6858000"/>
              <a:gd name="connsiteX4" fmla="*/ 2829254 w 7433452"/>
              <a:gd name="connsiteY4" fmla="*/ 0 h 6858000"/>
              <a:gd name="connsiteX5" fmla="*/ 7415310 w 7433452"/>
              <a:gd name="connsiteY5" fmla="*/ 0 h 6858000"/>
              <a:gd name="connsiteX6" fmla="*/ 7405703 w 7433452"/>
              <a:gd name="connsiteY6" fmla="*/ 94814 h 6858000"/>
              <a:gd name="connsiteX7" fmla="*/ 7410754 w 7433452"/>
              <a:gd name="connsiteY7" fmla="*/ 421796 h 6858000"/>
              <a:gd name="connsiteX8" fmla="*/ 7414688 w 7433452"/>
              <a:gd name="connsiteY8" fmla="*/ 812192 h 6858000"/>
              <a:gd name="connsiteX9" fmla="*/ 7395017 w 7433452"/>
              <a:gd name="connsiteY9" fmla="*/ 1113642 h 6858000"/>
              <a:gd name="connsiteX10" fmla="*/ 7422810 w 7433452"/>
              <a:gd name="connsiteY10" fmla="*/ 1796708 h 6858000"/>
              <a:gd name="connsiteX11" fmla="*/ 7421161 w 7433452"/>
              <a:gd name="connsiteY11" fmla="*/ 2327333 h 6858000"/>
              <a:gd name="connsiteX12" fmla="*/ 7412023 w 7433452"/>
              <a:gd name="connsiteY12" fmla="*/ 2784280 h 6858000"/>
              <a:gd name="connsiteX13" fmla="*/ 7417480 w 7433452"/>
              <a:gd name="connsiteY13" fmla="*/ 2985458 h 6858000"/>
              <a:gd name="connsiteX14" fmla="*/ 7403774 w 7433452"/>
              <a:gd name="connsiteY14" fmla="*/ 3531096 h 6858000"/>
              <a:gd name="connsiteX15" fmla="*/ 7414307 w 7433452"/>
              <a:gd name="connsiteY15" fmla="*/ 4336830 h 6858000"/>
              <a:gd name="connsiteX16" fmla="*/ 7413419 w 7433452"/>
              <a:gd name="connsiteY16" fmla="*/ 5026893 h 6858000"/>
              <a:gd name="connsiteX17" fmla="*/ 7417734 w 7433452"/>
              <a:gd name="connsiteY17" fmla="*/ 5252632 h 6858000"/>
              <a:gd name="connsiteX18" fmla="*/ 7417734 w 7433452"/>
              <a:gd name="connsiteY18" fmla="*/ 5466282 h 6858000"/>
              <a:gd name="connsiteX19" fmla="*/ 7379659 w 7433452"/>
              <a:gd name="connsiteY19" fmla="*/ 6121225 h 6858000"/>
              <a:gd name="connsiteX20" fmla="*/ 7395115 w 7433452"/>
              <a:gd name="connsiteY20" fmla="*/ 6708907 h 6858000"/>
              <a:gd name="connsiteX21" fmla="*/ 7412408 w 7433452"/>
              <a:gd name="connsiteY21" fmla="*/ 6858000 h 6858000"/>
              <a:gd name="connsiteX22" fmla="*/ 2829254 w 7433452"/>
              <a:gd name="connsiteY22" fmla="*/ 6858000 h 6858000"/>
              <a:gd name="connsiteX23" fmla="*/ 2762696 w 7433452"/>
              <a:gd name="connsiteY23" fmla="*/ 6858000 h 6858000"/>
              <a:gd name="connsiteX24" fmla="*/ 2171700 w 7433452"/>
              <a:gd name="connsiteY24" fmla="*/ 6858000 h 6858000"/>
              <a:gd name="connsiteX25" fmla="*/ 1592736 w 7433452"/>
              <a:gd name="connsiteY25" fmla="*/ 6858000 h 6858000"/>
              <a:gd name="connsiteX26" fmla="*/ 0 w 7433452"/>
              <a:gd name="connsiteY2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433452" h="6858000">
                <a:moveTo>
                  <a:pt x="0" y="0"/>
                </a:moveTo>
                <a:lnTo>
                  <a:pt x="1592736" y="0"/>
                </a:lnTo>
                <a:lnTo>
                  <a:pt x="2171700" y="0"/>
                </a:lnTo>
                <a:lnTo>
                  <a:pt x="2762696" y="0"/>
                </a:lnTo>
                <a:lnTo>
                  <a:pt x="2829254" y="0"/>
                </a:lnTo>
                <a:lnTo>
                  <a:pt x="7415310" y="0"/>
                </a:lnTo>
                <a:lnTo>
                  <a:pt x="7405703" y="94814"/>
                </a:lnTo>
                <a:cubicBezTo>
                  <a:pt x="7398856" y="203629"/>
                  <a:pt x="7403520" y="312712"/>
                  <a:pt x="7410754" y="421796"/>
                </a:cubicBezTo>
                <a:cubicBezTo>
                  <a:pt x="7421580" y="551656"/>
                  <a:pt x="7422900" y="682144"/>
                  <a:pt x="7414688" y="812192"/>
                </a:cubicBezTo>
                <a:cubicBezTo>
                  <a:pt x="7406693" y="912591"/>
                  <a:pt x="7397682" y="1012988"/>
                  <a:pt x="7395017" y="1113642"/>
                </a:cubicBezTo>
                <a:cubicBezTo>
                  <a:pt x="7388670" y="1342689"/>
                  <a:pt x="7407708" y="1569316"/>
                  <a:pt x="7422810" y="1796708"/>
                </a:cubicBezTo>
                <a:cubicBezTo>
                  <a:pt x="7434487" y="1973710"/>
                  <a:pt x="7439944" y="2150457"/>
                  <a:pt x="7421161" y="2327333"/>
                </a:cubicBezTo>
                <a:cubicBezTo>
                  <a:pt x="7405170" y="2479266"/>
                  <a:pt x="7396793" y="2631453"/>
                  <a:pt x="7412023" y="2784280"/>
                </a:cubicBezTo>
                <a:cubicBezTo>
                  <a:pt x="7418749" y="2851085"/>
                  <a:pt x="7425984" y="2918653"/>
                  <a:pt x="7417480" y="2985458"/>
                </a:cubicBezTo>
                <a:cubicBezTo>
                  <a:pt x="7394508" y="3167039"/>
                  <a:pt x="7398063" y="3349132"/>
                  <a:pt x="7403774" y="3531096"/>
                </a:cubicBezTo>
                <a:cubicBezTo>
                  <a:pt x="7412277" y="3799715"/>
                  <a:pt x="7426364" y="4067954"/>
                  <a:pt x="7414307" y="4336830"/>
                </a:cubicBezTo>
                <a:cubicBezTo>
                  <a:pt x="7404027" y="4566639"/>
                  <a:pt x="7420653" y="4796831"/>
                  <a:pt x="7413419" y="5026893"/>
                </a:cubicBezTo>
                <a:cubicBezTo>
                  <a:pt x="7410982" y="5102162"/>
                  <a:pt x="7412429" y="5177504"/>
                  <a:pt x="7417734" y="5252632"/>
                </a:cubicBezTo>
                <a:cubicBezTo>
                  <a:pt x="7424271" y="5323700"/>
                  <a:pt x="7424271" y="5395213"/>
                  <a:pt x="7417734" y="5466282"/>
                </a:cubicBezTo>
                <a:cubicBezTo>
                  <a:pt x="7393239" y="5683875"/>
                  <a:pt x="7383214" y="5902486"/>
                  <a:pt x="7379659" y="6121225"/>
                </a:cubicBezTo>
                <a:cubicBezTo>
                  <a:pt x="7376423" y="6317442"/>
                  <a:pt x="7378041" y="6513586"/>
                  <a:pt x="7395115" y="6708907"/>
                </a:cubicBezTo>
                <a:lnTo>
                  <a:pt x="7412408" y="6858000"/>
                </a:lnTo>
                <a:lnTo>
                  <a:pt x="2829254" y="6858000"/>
                </a:lnTo>
                <a:lnTo>
                  <a:pt x="2762696" y="6858000"/>
                </a:lnTo>
                <a:lnTo>
                  <a:pt x="2171700" y="6858000"/>
                </a:lnTo>
                <a:lnTo>
                  <a:pt x="159273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629392" y="815009"/>
            <a:ext cx="5878286" cy="2319127"/>
          </a:xfrm>
          <a:prstGeom prst="rect">
            <a:avLst/>
          </a:prstGeom>
        </p:spPr>
        <p:txBody>
          <a:bodyPr spcFirstLastPara="1" lIns="91425" tIns="45700" rIns="91425" bIns="45700" anchorCtr="0">
            <a:normAutofit/>
          </a:bodyPr>
          <a:lstStyle/>
          <a:p>
            <a:pPr algn="l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ES" dirty="0">
                <a:solidFill>
                  <a:schemeClr val="bg1"/>
                </a:solidFill>
                <a:hlinkClick r:id="rId3" tooltip="610503 - Programación en Ciencia de Dato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Programación en Ciencia de Datos</a:t>
            </a:r>
            <a:endParaRPr lang="es-ES" sz="28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D8460CAE-24BB-A40D-2344-236FBA5B5D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473" y="3340939"/>
            <a:ext cx="6081713" cy="2662693"/>
          </a:xfrm>
        </p:spPr>
        <p:txBody>
          <a:bodyPr>
            <a:normAutofit/>
          </a:bodyPr>
          <a:lstStyle/>
          <a:p>
            <a:pPr algn="l"/>
            <a:endParaRPr lang="es-ES" dirty="0">
              <a:solidFill>
                <a:srgbClr val="FFFFFF"/>
              </a:solidFill>
            </a:endParaRPr>
          </a:p>
          <a:p>
            <a:pPr algn="l"/>
            <a:r>
              <a:rPr lang="es-ES" dirty="0">
                <a:solidFill>
                  <a:srgbClr val="FFFFFF"/>
                </a:solidFill>
              </a:rPr>
              <a:t>Sonia Estévez Martín</a:t>
            </a:r>
          </a:p>
          <a:p>
            <a:pPr algn="l"/>
            <a:endParaRPr lang="es-ES" dirty="0">
              <a:solidFill>
                <a:srgbClr val="FFFFFF"/>
              </a:solidFill>
            </a:endParaRPr>
          </a:p>
        </p:txBody>
      </p:sp>
      <p:sp>
        <p:nvSpPr>
          <p:cNvPr id="97" name="sketch line">
            <a:extLst>
              <a:ext uri="{FF2B5EF4-FFF2-40B4-BE49-F238E27FC236}">
                <a16:creationId xmlns:a16="http://schemas.microsoft.com/office/drawing/2014/main" id="{35BC54F7-1315-4D6C-9420-A5BF0CDDB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5475" y="4252192"/>
            <a:ext cx="4056549" cy="18288"/>
          </a:xfrm>
          <a:custGeom>
            <a:avLst/>
            <a:gdLst>
              <a:gd name="csX0" fmla="*/ 0 w 4056549"/>
              <a:gd name="csY0" fmla="*/ 0 h 18288"/>
              <a:gd name="csX1" fmla="*/ 676092 w 4056549"/>
              <a:gd name="csY1" fmla="*/ 0 h 18288"/>
              <a:gd name="csX2" fmla="*/ 1271052 w 4056549"/>
              <a:gd name="csY2" fmla="*/ 0 h 18288"/>
              <a:gd name="csX3" fmla="*/ 1947144 w 4056549"/>
              <a:gd name="csY3" fmla="*/ 0 h 18288"/>
              <a:gd name="csX4" fmla="*/ 2501539 w 4056549"/>
              <a:gd name="csY4" fmla="*/ 0 h 18288"/>
              <a:gd name="csX5" fmla="*/ 3137065 w 4056549"/>
              <a:gd name="csY5" fmla="*/ 0 h 18288"/>
              <a:gd name="csX6" fmla="*/ 4056549 w 4056549"/>
              <a:gd name="csY6" fmla="*/ 0 h 18288"/>
              <a:gd name="csX7" fmla="*/ 4056549 w 4056549"/>
              <a:gd name="csY7" fmla="*/ 18288 h 18288"/>
              <a:gd name="csX8" fmla="*/ 3380458 w 4056549"/>
              <a:gd name="csY8" fmla="*/ 18288 h 18288"/>
              <a:gd name="csX9" fmla="*/ 2663801 w 4056549"/>
              <a:gd name="csY9" fmla="*/ 18288 h 18288"/>
              <a:gd name="csX10" fmla="*/ 2068840 w 4056549"/>
              <a:gd name="csY10" fmla="*/ 18288 h 18288"/>
              <a:gd name="csX11" fmla="*/ 1311618 w 4056549"/>
              <a:gd name="csY11" fmla="*/ 18288 h 18288"/>
              <a:gd name="csX12" fmla="*/ 716657 w 4056549"/>
              <a:gd name="csY12" fmla="*/ 18288 h 18288"/>
              <a:gd name="csX13" fmla="*/ 0 w 4056549"/>
              <a:gd name="csY13" fmla="*/ 18288 h 18288"/>
              <a:gd name="csX14" fmla="*/ 0 w 4056549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6549" h="18288" fill="none" extrusionOk="0">
                <a:moveTo>
                  <a:pt x="0" y="0"/>
                </a:moveTo>
                <a:cubicBezTo>
                  <a:pt x="324395" y="-12272"/>
                  <a:pt x="437185" y="20747"/>
                  <a:pt x="676092" y="0"/>
                </a:cubicBezTo>
                <a:cubicBezTo>
                  <a:pt x="914999" y="-20747"/>
                  <a:pt x="980886" y="20074"/>
                  <a:pt x="1271052" y="0"/>
                </a:cubicBezTo>
                <a:cubicBezTo>
                  <a:pt x="1561218" y="-20074"/>
                  <a:pt x="1609815" y="19965"/>
                  <a:pt x="1947144" y="0"/>
                </a:cubicBezTo>
                <a:cubicBezTo>
                  <a:pt x="2284473" y="-19965"/>
                  <a:pt x="2317816" y="-23682"/>
                  <a:pt x="2501539" y="0"/>
                </a:cubicBezTo>
                <a:cubicBezTo>
                  <a:pt x="2685262" y="23682"/>
                  <a:pt x="2879461" y="12712"/>
                  <a:pt x="3137065" y="0"/>
                </a:cubicBezTo>
                <a:cubicBezTo>
                  <a:pt x="3394669" y="-12712"/>
                  <a:pt x="3618306" y="-41742"/>
                  <a:pt x="4056549" y="0"/>
                </a:cubicBezTo>
                <a:cubicBezTo>
                  <a:pt x="4056201" y="6465"/>
                  <a:pt x="4056979" y="10922"/>
                  <a:pt x="4056549" y="18288"/>
                </a:cubicBezTo>
                <a:cubicBezTo>
                  <a:pt x="3807729" y="-7540"/>
                  <a:pt x="3536237" y="12619"/>
                  <a:pt x="3380458" y="18288"/>
                </a:cubicBezTo>
                <a:cubicBezTo>
                  <a:pt x="3224679" y="23957"/>
                  <a:pt x="2967497" y="23368"/>
                  <a:pt x="2663801" y="18288"/>
                </a:cubicBezTo>
                <a:cubicBezTo>
                  <a:pt x="2360105" y="13208"/>
                  <a:pt x="2359716" y="-8821"/>
                  <a:pt x="2068840" y="18288"/>
                </a:cubicBezTo>
                <a:cubicBezTo>
                  <a:pt x="1777964" y="45397"/>
                  <a:pt x="1641909" y="31681"/>
                  <a:pt x="1311618" y="18288"/>
                </a:cubicBezTo>
                <a:cubicBezTo>
                  <a:pt x="981327" y="4895"/>
                  <a:pt x="990410" y="11155"/>
                  <a:pt x="716657" y="18288"/>
                </a:cubicBezTo>
                <a:cubicBezTo>
                  <a:pt x="442904" y="25421"/>
                  <a:pt x="330722" y="13665"/>
                  <a:pt x="0" y="18288"/>
                </a:cubicBezTo>
                <a:cubicBezTo>
                  <a:pt x="75" y="12069"/>
                  <a:pt x="515" y="5650"/>
                  <a:pt x="0" y="0"/>
                </a:cubicBezTo>
                <a:close/>
              </a:path>
              <a:path w="4056549" h="18288" stroke="0" extrusionOk="0">
                <a:moveTo>
                  <a:pt x="0" y="0"/>
                </a:moveTo>
                <a:cubicBezTo>
                  <a:pt x="175099" y="13469"/>
                  <a:pt x="459673" y="14529"/>
                  <a:pt x="594961" y="0"/>
                </a:cubicBezTo>
                <a:cubicBezTo>
                  <a:pt x="730249" y="-14529"/>
                  <a:pt x="873178" y="22015"/>
                  <a:pt x="1149356" y="0"/>
                </a:cubicBezTo>
                <a:cubicBezTo>
                  <a:pt x="1425534" y="-22015"/>
                  <a:pt x="1498871" y="-21513"/>
                  <a:pt x="1744316" y="0"/>
                </a:cubicBezTo>
                <a:cubicBezTo>
                  <a:pt x="1989761" y="21513"/>
                  <a:pt x="2112991" y="-46"/>
                  <a:pt x="2420408" y="0"/>
                </a:cubicBezTo>
                <a:cubicBezTo>
                  <a:pt x="2727825" y="46"/>
                  <a:pt x="2880256" y="-10040"/>
                  <a:pt x="3137065" y="0"/>
                </a:cubicBezTo>
                <a:cubicBezTo>
                  <a:pt x="3393874" y="10040"/>
                  <a:pt x="3704325" y="-6685"/>
                  <a:pt x="4056549" y="0"/>
                </a:cubicBezTo>
                <a:cubicBezTo>
                  <a:pt x="4055732" y="6895"/>
                  <a:pt x="4055770" y="11206"/>
                  <a:pt x="4056549" y="18288"/>
                </a:cubicBezTo>
                <a:cubicBezTo>
                  <a:pt x="3812770" y="11959"/>
                  <a:pt x="3533996" y="-5717"/>
                  <a:pt x="3299327" y="18288"/>
                </a:cubicBezTo>
                <a:cubicBezTo>
                  <a:pt x="3064658" y="42293"/>
                  <a:pt x="2940381" y="24492"/>
                  <a:pt x="2744931" y="18288"/>
                </a:cubicBezTo>
                <a:cubicBezTo>
                  <a:pt x="2549481" y="12084"/>
                  <a:pt x="2252169" y="51841"/>
                  <a:pt x="1987709" y="18288"/>
                </a:cubicBezTo>
                <a:cubicBezTo>
                  <a:pt x="1723249" y="-15265"/>
                  <a:pt x="1438946" y="3423"/>
                  <a:pt x="1230487" y="18288"/>
                </a:cubicBezTo>
                <a:cubicBezTo>
                  <a:pt x="1022028" y="33153"/>
                  <a:pt x="795957" y="18596"/>
                  <a:pt x="676092" y="18288"/>
                </a:cubicBezTo>
                <a:cubicBezTo>
                  <a:pt x="556227" y="17980"/>
                  <a:pt x="334853" y="39451"/>
                  <a:pt x="0" y="18288"/>
                </a:cubicBezTo>
                <a:cubicBezTo>
                  <a:pt x="95" y="14343"/>
                  <a:pt x="742" y="686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E4786-325E-6177-227A-09E3A9BF9135}"/>
              </a:ext>
            </a:extLst>
          </p:cNvPr>
          <p:cNvSpPr txBox="1"/>
          <p:nvPr/>
        </p:nvSpPr>
        <p:spPr>
          <a:xfrm>
            <a:off x="8046814" y="4722629"/>
            <a:ext cx="36797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ES" dirty="0">
                <a:hlinkClick r:id="rId4"/>
              </a:rPr>
              <a:t>Máster</a:t>
            </a:r>
          </a:p>
          <a:p>
            <a:pPr algn="ctr"/>
            <a:r>
              <a:rPr lang="en-ES" dirty="0">
                <a:hlinkClick r:id="rId4"/>
              </a:rPr>
              <a:t>Ciencia de Datos e Inteligencia de Negocios</a:t>
            </a:r>
            <a:endParaRPr lang="en-E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80CBC7-4264-739F-DEB2-93CA56495BA6}"/>
              </a:ext>
            </a:extLst>
          </p:cNvPr>
          <p:cNvSpPr txBox="1"/>
          <p:nvPr/>
        </p:nvSpPr>
        <p:spPr>
          <a:xfrm>
            <a:off x="8210798" y="1328840"/>
            <a:ext cx="3351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latin typeface="Verdana" panose="020B0604030504040204" pitchFamily="34" charset="0"/>
                <a:ea typeface="Verdana" panose="020B0604030504040204" pitchFamily="34" charset="0"/>
              </a:rPr>
              <a:t>Presentación</a:t>
            </a:r>
            <a:endParaRPr lang="es-ES_tradnl" dirty="0"/>
          </a:p>
        </p:txBody>
      </p:sp>
      <p:pic>
        <p:nvPicPr>
          <p:cNvPr id="9" name="Picture 8" descr="A logo of a university&#10;&#10;Description automatically generated">
            <a:extLst>
              <a:ext uri="{FF2B5EF4-FFF2-40B4-BE49-F238E27FC236}">
                <a16:creationId xmlns:a16="http://schemas.microsoft.com/office/drawing/2014/main" id="{726333BB-17CC-375C-C724-DD9AE13E90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058" y="2110654"/>
            <a:ext cx="1790148" cy="2046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B3387C-0CB8-A442-4434-5AC7A5064DF8}"/>
              </a:ext>
            </a:extLst>
          </p:cNvPr>
          <p:cNvSpPr txBox="1"/>
          <p:nvPr/>
        </p:nvSpPr>
        <p:spPr>
          <a:xfrm>
            <a:off x="7973604" y="6210971"/>
            <a:ext cx="3826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Universidad Complutense de Madrid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4000"/>
    </mc:Choice>
    <mc:Fallback xmlns="">
      <p:transition advClick="0" advTm="4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A3E4A6-9310-96C3-CE85-8C41BFF55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E65D05F-6072-4B4E-9981-AFD8EE10E932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Forma libre: forma 2">
            <a:extLst>
              <a:ext uri="{FF2B5EF4-FFF2-40B4-BE49-F238E27FC236}">
                <a16:creationId xmlns:a16="http://schemas.microsoft.com/office/drawing/2014/main" id="{5BD23415-8DCC-89B4-3F32-6E35B17C48B2}"/>
              </a:ext>
            </a:extLst>
          </p:cNvPr>
          <p:cNvSpPr/>
          <p:nvPr/>
        </p:nvSpPr>
        <p:spPr>
          <a:xfrm>
            <a:off x="3766930" y="387468"/>
            <a:ext cx="4658139" cy="455680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200" kern="1200" dirty="0"/>
              <a:t>Profesora</a:t>
            </a:r>
            <a:endParaRPr lang="en-US" sz="2200" kern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62E343-3BAF-7F28-E165-4F18BEFF9B38}"/>
              </a:ext>
            </a:extLst>
          </p:cNvPr>
          <p:cNvSpPr txBox="1"/>
          <p:nvPr/>
        </p:nvSpPr>
        <p:spPr>
          <a:xfrm>
            <a:off x="1309161" y="1766622"/>
            <a:ext cx="9342911" cy="33247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>
              <a:lnSpc>
                <a:spcPct val="200000"/>
              </a:lnSpc>
              <a:defRPr b="1"/>
            </a:lvl1pPr>
          </a:lstStyle>
          <a:p>
            <a:pPr>
              <a:lnSpc>
                <a:spcPct val="250000"/>
              </a:lnSpc>
            </a:pPr>
            <a:r>
              <a:rPr lang="es-ES" sz="2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Sonia Estévez Martín</a:t>
            </a:r>
          </a:p>
          <a:p>
            <a:pPr>
              <a:lnSpc>
                <a:spcPct val="250000"/>
              </a:lnSpc>
            </a:pPr>
            <a:r>
              <a:rPr lang="es-ES" sz="2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Despacho: 412 de la facultad de informática</a:t>
            </a:r>
          </a:p>
          <a:p>
            <a:pPr>
              <a:lnSpc>
                <a:spcPct val="250000"/>
              </a:lnSpc>
            </a:pPr>
            <a:r>
              <a:rPr lang="es-ES" sz="2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Tutorías: solicitar escribiendo a </a:t>
            </a:r>
            <a:r>
              <a:rPr lang="es-ES" sz="2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2"/>
              </a:rPr>
              <a:t>soesteve@ucm.es</a:t>
            </a:r>
            <a:endParaRPr lang="es-ES" sz="2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250000"/>
              </a:lnSpc>
            </a:pPr>
            <a:r>
              <a:rPr lang="es-ES" sz="22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web: </a:t>
            </a:r>
            <a:r>
              <a:rPr lang="en-GB" sz="2200" b="0" i="0" dirty="0">
                <a:solidFill>
                  <a:srgbClr val="1155C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3"/>
              </a:rPr>
              <a:t>https://sites.google.com/ucm.es/prof-sonia-estvez-martn</a:t>
            </a:r>
            <a:endParaRPr lang="en-ES" sz="22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71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A40E0509-8392-8F64-6F84-F56DEF5E15CC}"/>
              </a:ext>
            </a:extLst>
          </p:cNvPr>
          <p:cNvSpPr/>
          <p:nvPr/>
        </p:nvSpPr>
        <p:spPr>
          <a:xfrm>
            <a:off x="3766930" y="387468"/>
            <a:ext cx="4658139" cy="455680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200" kern="1200" dirty="0"/>
              <a:t>Ficha docente</a:t>
            </a:r>
            <a:endParaRPr lang="en-US" sz="2200" kern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A3E4A6-9310-96C3-CE85-8C41BFF55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3</a:t>
            </a:fld>
            <a:endParaRPr lang="es-E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D544B0-6F80-F281-0BB5-96B5D3826CBA}"/>
              </a:ext>
            </a:extLst>
          </p:cNvPr>
          <p:cNvSpPr txBox="1"/>
          <p:nvPr/>
        </p:nvSpPr>
        <p:spPr>
          <a:xfrm>
            <a:off x="797851" y="1046931"/>
            <a:ext cx="104543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>
                <a:hlinkClick r:id="rId2"/>
              </a:rPr>
              <a:t>https://estudiosestadisticos.ucm.es/estudios/2026-27/master-cienciadedatos-plan-610503</a:t>
            </a:r>
            <a:endParaRPr lang="es-E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2D7FD5-82F6-0968-3A4E-E6F0BF76BEF3}"/>
              </a:ext>
            </a:extLst>
          </p:cNvPr>
          <p:cNvSpPr txBox="1"/>
          <p:nvPr/>
        </p:nvSpPr>
        <p:spPr>
          <a:xfrm>
            <a:off x="673599" y="1669481"/>
            <a:ext cx="10844800" cy="4433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ES" sz="18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Este curso, perteneciente al Master en Ciencia de Datos e Inteligencia de Negocios de la Facultad de Estadística, está diseñado para proporcionar a los estudiantes las competencias necesarias en programación aplicadas a la ciencia de datos. A través de una combinación de clases teóricas y prácticas, </a:t>
            </a:r>
            <a:r>
              <a:rPr lang="en-ES" sz="1800" b="0" i="0" dirty="0">
                <a:solidFill>
                  <a:schemeClr val="accent2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los estudiantes aprenderán a utilizar herramientas y bibliotecas de Python para la manipulación de datos, análisis estadístico, visualización, y técnicas introductorias de aprendizaje automático y procesamiento de lenguaje natural</a:t>
            </a:r>
            <a:r>
              <a:rPr lang="en-ES" sz="18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El curso incluye actividades prácticas que permiten a los estudiantes aplicar sus conocimientos en desarrollo de proyectos.</a:t>
            </a:r>
            <a:endParaRPr lang="es-E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461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A40E0509-8392-8F64-6F84-F56DEF5E15CC}"/>
              </a:ext>
            </a:extLst>
          </p:cNvPr>
          <p:cNvSpPr/>
          <p:nvPr/>
        </p:nvSpPr>
        <p:spPr>
          <a:xfrm>
            <a:off x="3766930" y="387468"/>
            <a:ext cx="4658139" cy="455680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s-ES" sz="2200" kern="1200" dirty="0"/>
              <a:t>Ficha docente</a:t>
            </a:r>
            <a:endParaRPr lang="en-US" sz="2200" kern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A3E4A6-9310-96C3-CE85-8C41BFF55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4</a:t>
            </a:fld>
            <a:endParaRPr lang="es-E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6EA0FB-9347-0AE1-9CAD-0AE518381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947477"/>
              </p:ext>
            </p:extLst>
          </p:nvPr>
        </p:nvGraphicFramePr>
        <p:xfrm>
          <a:off x="819375" y="1390878"/>
          <a:ext cx="10534425" cy="417290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717148">
                  <a:extLst>
                    <a:ext uri="{9D8B030D-6E8A-4147-A177-3AD203B41FA5}">
                      <a16:colId xmlns:a16="http://schemas.microsoft.com/office/drawing/2014/main" val="2650169765"/>
                    </a:ext>
                  </a:extLst>
                </a:gridCol>
                <a:gridCol w="5817277">
                  <a:extLst>
                    <a:ext uri="{9D8B030D-6E8A-4147-A177-3AD203B41FA5}">
                      <a16:colId xmlns:a16="http://schemas.microsoft.com/office/drawing/2014/main" val="2327656352"/>
                    </a:ext>
                  </a:extLst>
                </a:gridCol>
              </a:tblGrid>
              <a:tr h="74965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sz="2200" b="1" dirty="0" err="1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Contenido</a:t>
                      </a:r>
                      <a:endParaRPr lang="es-ES_tradnl" sz="22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endParaRPr lang="es-ES_tradnl" sz="22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116280"/>
                  </a:ext>
                </a:extLst>
              </a:tr>
              <a:tr h="749654">
                <a:tc>
                  <a:txBody>
                    <a:bodyPr/>
                    <a:lstStyle/>
                    <a:p>
                      <a:r>
                        <a:rPr lang="en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Introducción a la Programación en Python:</a:t>
                      </a:r>
                      <a:endParaRPr lang="en-GB" sz="22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Estructuras de datos básicas</a:t>
                      </a:r>
                    </a:p>
                    <a:p>
                      <a:r>
                        <a:rPr lang="en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Control de flujo</a:t>
                      </a:r>
                    </a:p>
                    <a:p>
                      <a:r>
                        <a:rPr lang="en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Funciones y módulos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015839"/>
                  </a:ext>
                </a:extLst>
              </a:tr>
              <a:tr h="9811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Manipulación de Datos:</a:t>
                      </a:r>
                      <a:endParaRPr lang="en-GB" sz="22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Lectura y escritura de datos</a:t>
                      </a:r>
                    </a:p>
                    <a:p>
                      <a:r>
                        <a:rPr lang="en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Transformaciones y operaciones básicas</a:t>
                      </a:r>
                    </a:p>
                    <a:p>
                      <a:r>
                        <a:rPr lang="en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Visualización de Datos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052845"/>
                  </a:ext>
                </a:extLst>
              </a:tr>
              <a:tr h="749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 de Datos con Python:</a:t>
                      </a:r>
                      <a:endParaRPr lang="en-GB" sz="22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Conexión</a:t>
                      </a:r>
                    </a:p>
                    <a:p>
                      <a:r>
                        <a:rPr lang="en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Consultas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1813073"/>
                  </a:ext>
                </a:extLst>
              </a:tr>
              <a:tr h="749654">
                <a:tc>
                  <a:txBody>
                    <a:bodyPr/>
                    <a:lstStyle/>
                    <a:p>
                      <a:r>
                        <a:rPr lang="en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Uso de Python en Ciencia de Datos: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Casos de Uso.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748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445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C517D-57A2-09E9-5897-415039746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04991D97-4430-9864-7032-8AC2EB07DFC3}"/>
              </a:ext>
            </a:extLst>
          </p:cNvPr>
          <p:cNvSpPr/>
          <p:nvPr/>
        </p:nvSpPr>
        <p:spPr>
          <a:xfrm>
            <a:off x="3766930" y="387468"/>
            <a:ext cx="4658139" cy="455680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Evaluación</a:t>
            </a:r>
            <a:endParaRPr lang="es-ES_tradnl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39F14F-0911-1909-6183-59243545B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5</a:t>
            </a:fld>
            <a:endParaRPr lang="es-E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39398A-9414-74AE-923E-B9738E71C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154892"/>
              </p:ext>
            </p:extLst>
          </p:nvPr>
        </p:nvGraphicFramePr>
        <p:xfrm>
          <a:off x="937619" y="1535470"/>
          <a:ext cx="10207156" cy="275969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89908">
                  <a:extLst>
                    <a:ext uri="{9D8B030D-6E8A-4147-A177-3AD203B41FA5}">
                      <a16:colId xmlns:a16="http://schemas.microsoft.com/office/drawing/2014/main" val="2650169765"/>
                    </a:ext>
                  </a:extLst>
                </a:gridCol>
                <a:gridCol w="7917248">
                  <a:extLst>
                    <a:ext uri="{9D8B030D-6E8A-4147-A177-3AD203B41FA5}">
                      <a16:colId xmlns:a16="http://schemas.microsoft.com/office/drawing/2014/main" val="3377167700"/>
                    </a:ext>
                  </a:extLst>
                </a:gridCol>
              </a:tblGrid>
              <a:tr h="4858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sz="1800" b="1" kern="1200" dirty="0" err="1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Porcentajes</a:t>
                      </a:r>
                      <a:endParaRPr lang="es-ES_tradnl" sz="1800" b="1" kern="1200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Resumen de puntos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116280"/>
                  </a:ext>
                </a:extLst>
              </a:tr>
              <a:tr h="12545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90% de la nota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Exámenes teóricos: Evaluación de los conocimientos adquiridos mediante pruebas escritas.</a:t>
                      </a:r>
                      <a:br>
                        <a:rPr lang="en-ES" dirty="0"/>
                      </a:br>
                      <a:r>
                        <a:rPr lang="en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Trabajos prácticos: Entrega de proyectos de programación y análisis de datos.</a:t>
                      </a:r>
                      <a:endParaRPr lang="es-ES_tradnl" sz="1800" kern="12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015839"/>
                  </a:ext>
                </a:extLst>
              </a:tr>
              <a:tr h="10193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10% de la nota</a:t>
                      </a:r>
                      <a:endParaRPr lang="en-GB" sz="18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Participación en clase: Evaluación de la participación en discusiones y actividades en clase.</a:t>
                      </a:r>
                      <a:br>
                        <a:rPr lang="en-ES" dirty="0"/>
                      </a:br>
                      <a:r>
                        <a:rPr lang="en-E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Pruebas gamificadas</a:t>
                      </a:r>
                      <a:endParaRPr lang="es-ES_tradnl" sz="1800" dirty="0">
                        <a:solidFill>
                          <a:schemeClr val="accent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0528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24BED91-F5F5-A50F-F74C-3BCFF118B7A6}"/>
              </a:ext>
            </a:extLst>
          </p:cNvPr>
          <p:cNvSpPr txBox="1"/>
          <p:nvPr/>
        </p:nvSpPr>
        <p:spPr>
          <a:xfrm>
            <a:off x="824369" y="1166138"/>
            <a:ext cx="10430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ES" dirty="0"/>
              <a:t>Cada</a:t>
            </a:r>
            <a:r>
              <a:rPr lang="en-ES" sz="1800" b="0" i="0" dirty="0">
                <a:solidFill>
                  <a:schemeClr val="tx1"/>
                </a:solidFill>
                <a:effectLst/>
                <a:latin typeface="+mn-lt"/>
              </a:rPr>
              <a:t> alumno/a tiene la posibilidad de aprobar la asignatura por evaluación continua, que consistirá en:</a:t>
            </a:r>
            <a:endParaRPr lang="es-E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8D42AB-D89B-BAE3-649D-BFC8CA19DCDE}"/>
              </a:ext>
            </a:extLst>
          </p:cNvPr>
          <p:cNvSpPr txBox="1"/>
          <p:nvPr/>
        </p:nvSpPr>
        <p:spPr>
          <a:xfrm>
            <a:off x="933975" y="4602024"/>
            <a:ext cx="10210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ES" sz="1800" b="0" i="0" dirty="0">
                <a:solidFill>
                  <a:schemeClr val="tx1"/>
                </a:solidFill>
                <a:effectLst/>
                <a:latin typeface="+mn-lt"/>
              </a:rPr>
              <a:t>Aparte de ello, cualquier alumno/a tendrá derecho a una prueba final pudiendo resultar su calificación la nota final del curso.</a:t>
            </a:r>
            <a:br>
              <a:rPr lang="en-ES" dirty="0"/>
            </a:br>
            <a:br>
              <a:rPr lang="en-ES" dirty="0"/>
            </a:br>
            <a:r>
              <a:rPr lang="en-ES" sz="1800" b="0" i="0" dirty="0">
                <a:solidFill>
                  <a:schemeClr val="tx1"/>
                </a:solidFill>
                <a:effectLst/>
                <a:latin typeface="+mn-lt"/>
              </a:rPr>
              <a:t>La calificación final será el máximo entre:</a:t>
            </a:r>
            <a:br>
              <a:rPr lang="en-ES" dirty="0"/>
            </a:br>
            <a:r>
              <a:rPr lang="en-ES" sz="1800" b="0" i="0" dirty="0">
                <a:solidFill>
                  <a:schemeClr val="tx1"/>
                </a:solidFill>
                <a:effectLst/>
                <a:latin typeface="+mn-lt"/>
              </a:rPr>
              <a:t>a) La calificación obtenida en la prueba final.</a:t>
            </a:r>
            <a:br>
              <a:rPr lang="en-ES" dirty="0"/>
            </a:br>
            <a:r>
              <a:rPr lang="en-ES" sz="1800" b="0" i="0" dirty="0">
                <a:solidFill>
                  <a:schemeClr val="tx1"/>
                </a:solidFill>
                <a:effectLst/>
                <a:latin typeface="+mn-lt"/>
              </a:rPr>
              <a:t>b) La calificación obtenida mediante la evaluación continua.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03577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59E62-186C-83E6-ECB9-6364036EE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: forma 2">
            <a:extLst>
              <a:ext uri="{FF2B5EF4-FFF2-40B4-BE49-F238E27FC236}">
                <a16:creationId xmlns:a16="http://schemas.microsoft.com/office/drawing/2014/main" id="{3D93F662-1407-66B9-790A-352590C728B3}"/>
              </a:ext>
            </a:extLst>
          </p:cNvPr>
          <p:cNvSpPr/>
          <p:nvPr/>
        </p:nvSpPr>
        <p:spPr>
          <a:xfrm>
            <a:off x="3766930" y="387468"/>
            <a:ext cx="4658139" cy="1151046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Herramienta</a:t>
            </a:r>
            <a:r>
              <a:rPr lang="en-GB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GB" sz="22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trabajo</a:t>
            </a:r>
            <a:endParaRPr lang="en-GB" sz="22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 defTabSz="14224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E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Jupyter Notebook</a:t>
            </a:r>
            <a:endParaRPr lang="es-ES_tradnl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50D753-DF72-F08C-0EB2-313791842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6</a:t>
            </a:fld>
            <a:endParaRPr lang="es-E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462DC2-5C64-A119-293D-7CAC4D8FD3C1}"/>
              </a:ext>
            </a:extLst>
          </p:cNvPr>
          <p:cNvSpPr txBox="1"/>
          <p:nvPr/>
        </p:nvSpPr>
        <p:spPr>
          <a:xfrm>
            <a:off x="817860" y="1808488"/>
            <a:ext cx="10210800" cy="3879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ES" sz="1800" b="0" i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Como herramienta de trabajo usaremos Notebook de Jupyter </a:t>
            </a:r>
            <a:r>
              <a:rPr lang="en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 </a:t>
            </a:r>
            <a:r>
              <a:rPr lang="en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3" tooltip="Julia (lenguaje de programación)"/>
              </a:rPr>
              <a:t>Julia</a:t>
            </a:r>
            <a:r>
              <a:rPr lang="en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 </a:t>
            </a:r>
            <a:r>
              <a:rPr lang="en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4" tooltip="Python"/>
              </a:rPr>
              <a:t>Python</a:t>
            </a:r>
            <a:r>
              <a:rPr lang="en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y </a:t>
            </a:r>
            <a:r>
              <a:rPr lang="en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5" tooltip="R (lenguaje de programación)"/>
              </a:rPr>
              <a:t>R</a:t>
            </a:r>
            <a:r>
              <a:rPr lang="en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lenguajes de programación más usados de los soportados por Jupyter),</a:t>
            </a:r>
          </a:p>
          <a:p>
            <a:pPr>
              <a:lnSpc>
                <a:spcPct val="200000"/>
              </a:lnSpc>
            </a:pPr>
            <a:r>
              <a:rPr lang="en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 el proyecto Jupyter tiene varios productos de computación interactiva: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ES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Jupyter Notebook</a:t>
            </a:r>
            <a:r>
              <a:rPr lang="en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entorno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interactivo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para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escribir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y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ejecutar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código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python,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combinarlo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con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texto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fórmulas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imágenes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y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gráficos</a:t>
            </a:r>
            <a:endParaRPr lang="en-E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JupyterHub y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E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JupyterLab</a:t>
            </a:r>
          </a:p>
        </p:txBody>
      </p:sp>
    </p:spTree>
    <p:extLst>
      <p:ext uri="{BB962C8B-B14F-4D97-AF65-F5344CB8AC3E}">
        <p14:creationId xmlns:p14="http://schemas.microsoft.com/office/powerpoint/2010/main" val="3570210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6DA9E-09F1-53BD-4505-A15101DC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A3DF6E-53E8-FDDF-F2DC-31DA27D7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D05F-6072-4B4E-9981-AFD8EE10E932}" type="slidenum">
              <a:rPr lang="es-ES" smtClean="0"/>
              <a:t>7</a:t>
            </a:fld>
            <a:endParaRPr lang="es-E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F8B93D-0F49-DABF-69FD-A2ECB46FA647}"/>
              </a:ext>
            </a:extLst>
          </p:cNvPr>
          <p:cNvSpPr txBox="1"/>
          <p:nvPr/>
        </p:nvSpPr>
        <p:spPr>
          <a:xfrm>
            <a:off x="455004" y="2015371"/>
            <a:ext cx="5220082" cy="3879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lugar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instalar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Python "a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secas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", </a:t>
            </a:r>
            <a:r>
              <a:rPr lang="en-GB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Anaconda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instala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Python junto con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cientos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bibliotecas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el gestor de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paquetes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conda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y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herramientas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como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Jupyter.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Además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tiene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otras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herramientas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como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RStudio, </a:t>
            </a:r>
            <a:r>
              <a:rPr lang="en-GB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VSCode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...</a:t>
            </a:r>
          </a:p>
        </p:txBody>
      </p:sp>
      <p:sp>
        <p:nvSpPr>
          <p:cNvPr id="4" name="Forma libre: forma 2">
            <a:extLst>
              <a:ext uri="{FF2B5EF4-FFF2-40B4-BE49-F238E27FC236}">
                <a16:creationId xmlns:a16="http://schemas.microsoft.com/office/drawing/2014/main" id="{B1955650-9F47-65D9-CE3E-F12DC40A9195}"/>
              </a:ext>
            </a:extLst>
          </p:cNvPr>
          <p:cNvSpPr/>
          <p:nvPr/>
        </p:nvSpPr>
        <p:spPr>
          <a:xfrm>
            <a:off x="3549219" y="387468"/>
            <a:ext cx="4843670" cy="1122018"/>
          </a:xfrm>
          <a:custGeom>
            <a:avLst/>
            <a:gdLst>
              <a:gd name="connsiteX0" fmla="*/ 0 w 7164343"/>
              <a:gd name="connsiteY0" fmla="*/ 80890 h 808897"/>
              <a:gd name="connsiteX1" fmla="*/ 80890 w 7164343"/>
              <a:gd name="connsiteY1" fmla="*/ 0 h 808897"/>
              <a:gd name="connsiteX2" fmla="*/ 7083453 w 7164343"/>
              <a:gd name="connsiteY2" fmla="*/ 0 h 808897"/>
              <a:gd name="connsiteX3" fmla="*/ 7164343 w 7164343"/>
              <a:gd name="connsiteY3" fmla="*/ 80890 h 808897"/>
              <a:gd name="connsiteX4" fmla="*/ 7164343 w 7164343"/>
              <a:gd name="connsiteY4" fmla="*/ 728007 h 808897"/>
              <a:gd name="connsiteX5" fmla="*/ 7083453 w 7164343"/>
              <a:gd name="connsiteY5" fmla="*/ 808897 h 808897"/>
              <a:gd name="connsiteX6" fmla="*/ 80890 w 7164343"/>
              <a:gd name="connsiteY6" fmla="*/ 808897 h 808897"/>
              <a:gd name="connsiteX7" fmla="*/ 0 w 7164343"/>
              <a:gd name="connsiteY7" fmla="*/ 728007 h 808897"/>
              <a:gd name="connsiteX8" fmla="*/ 0 w 7164343"/>
              <a:gd name="connsiteY8" fmla="*/ 80890 h 80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343" h="808897">
                <a:moveTo>
                  <a:pt x="0" y="80890"/>
                </a:moveTo>
                <a:cubicBezTo>
                  <a:pt x="0" y="36216"/>
                  <a:pt x="36216" y="0"/>
                  <a:pt x="80890" y="0"/>
                </a:cubicBezTo>
                <a:lnTo>
                  <a:pt x="7083453" y="0"/>
                </a:lnTo>
                <a:cubicBezTo>
                  <a:pt x="7128127" y="0"/>
                  <a:pt x="7164343" y="36216"/>
                  <a:pt x="7164343" y="80890"/>
                </a:cubicBezTo>
                <a:lnTo>
                  <a:pt x="7164343" y="728007"/>
                </a:lnTo>
                <a:cubicBezTo>
                  <a:pt x="7164343" y="772681"/>
                  <a:pt x="7128127" y="808897"/>
                  <a:pt x="7083453" y="808897"/>
                </a:cubicBezTo>
                <a:lnTo>
                  <a:pt x="80890" y="808897"/>
                </a:lnTo>
                <a:cubicBezTo>
                  <a:pt x="36216" y="808897"/>
                  <a:pt x="0" y="772681"/>
                  <a:pt x="0" y="728007"/>
                </a:cubicBezTo>
                <a:lnTo>
                  <a:pt x="0" y="8089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5612" tIns="145612" rIns="144000" bIns="145612" numCol="1" spcCol="1270" anchor="ctr" anchorCtr="0">
            <a:noAutofit/>
          </a:bodyPr>
          <a:lstStyle/>
          <a:p>
            <a:pPr algn="ctr" defTabSz="14224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E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Anaconda - Jupyter Notebook</a:t>
            </a:r>
          </a:p>
          <a:p>
            <a:pPr algn="ctr" defTabSz="14224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E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Instalación</a:t>
            </a:r>
            <a:endParaRPr lang="es-ES_tradnl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Picture 4" descr="Introduction to TensorFlow: TensorFlow 2 Python Tutorial">
            <a:extLst>
              <a:ext uri="{FF2B5EF4-FFF2-40B4-BE49-F238E27FC236}">
                <a16:creationId xmlns:a16="http://schemas.microsoft.com/office/drawing/2014/main" id="{A2725FDF-88A1-C55C-A198-93E14524D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315" y="1754545"/>
            <a:ext cx="6096000" cy="44013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459366-4CCE-0E40-E62F-34ED4A5C80F9}"/>
              </a:ext>
            </a:extLst>
          </p:cNvPr>
          <p:cNvSpPr txBox="1"/>
          <p:nvPr/>
        </p:nvSpPr>
        <p:spPr>
          <a:xfrm>
            <a:off x="838200" y="60714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hlinkClick r:id="rId4"/>
              </a:rPr>
              <a:t>https://www.anaconda.com/download</a:t>
            </a:r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8788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14FACDD-DA42-2B3A-E787-F134F76D8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s-ES" sz="6600" dirty="0"/>
              <a:t>Fin de la presentación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1FA42B96-EAFB-929C-B187-4D543AB254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370779" t="-370779" r="-370779" b="-370779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6231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66">
        <p:fade/>
      </p:transition>
    </mc:Choice>
    <mc:Fallback xmlns="">
      <p:transition spd="med" advTm="76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1759</TotalTime>
  <Words>505</Words>
  <Application>Microsoft Macintosh PowerPoint</Application>
  <PresentationFormat>Widescreen</PresentationFormat>
  <Paragraphs>63</Paragraphs>
  <Slides>8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Verdana</vt:lpstr>
      <vt:lpstr>Tema de Office</vt:lpstr>
      <vt:lpstr>Programación en Ciencia de Datos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 de la presentación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Crear dashboards con R y RStudio para publicar resultados científicos</dc:title>
  <dc:creator>SONIA ESTEVEZ MARTIN</dc:creator>
  <cp:lastModifiedBy>SONIA ESTEVEZ MARTIN</cp:lastModifiedBy>
  <cp:revision>37</cp:revision>
  <dcterms:created xsi:type="dcterms:W3CDTF">2024-02-26T11:23:01Z</dcterms:created>
  <dcterms:modified xsi:type="dcterms:W3CDTF">2026-09-07T15:06:57Z</dcterms:modified>
</cp:coreProperties>
</file>