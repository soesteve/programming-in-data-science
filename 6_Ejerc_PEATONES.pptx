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3"/>
    <p:restoredTop sz="94633"/>
  </p:normalViewPr>
  <p:slideViewPr>
    <p:cSldViewPr snapToGrid="0" snapToObjects="1">
      <p:cViewPr varScale="1">
        <p:scale>
          <a:sx n="147" d="100"/>
          <a:sy n="147" d="100"/>
        </p:scale>
        <p:origin x="10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60120"/>
            <a:ext cx="10515600" cy="1234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peatones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Madrid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784080" cy="7772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BEE1E2"/>
                </a:solidFill>
                <a:latin typeface="Aptos"/>
              </a:defRPr>
            </a:pPr>
            <a:r>
              <a:rPr dirty="0"/>
              <a:t>Pandas: </a:t>
            </a:r>
            <a:r>
              <a:rPr dirty="0" err="1"/>
              <a:t>limpieza</a:t>
            </a:r>
            <a:r>
              <a:rPr dirty="0"/>
              <a:t>, </a:t>
            </a:r>
            <a:r>
              <a:rPr dirty="0" err="1"/>
              <a:t>transformación</a:t>
            </a:r>
            <a:r>
              <a:rPr dirty="0"/>
              <a:t> y </a:t>
            </a:r>
            <a:r>
              <a:rPr dirty="0" err="1"/>
              <a:t>análisis</a:t>
            </a:r>
            <a:r>
              <a:rPr dirty="0"/>
              <a:t>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337560"/>
            <a:ext cx="1234440" cy="73152"/>
          </a:xfrm>
          <a:prstGeom prst="rect">
            <a:avLst/>
          </a:prstGeom>
          <a:solidFill>
            <a:srgbClr val="E6A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875520" cy="9144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Material de </a:t>
            </a:r>
            <a:r>
              <a:rPr dirty="0" err="1"/>
              <a:t>apoyo</a:t>
            </a:r>
            <a:r>
              <a:rPr dirty="0"/>
              <a:t> al notebook </a:t>
            </a:r>
            <a:r>
              <a:rPr dirty="0" err="1"/>
              <a:t>6_Ejerc_PEATONES.ipynb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60704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ECDD7"/>
                </a:solidFill>
                <a:latin typeface="Aptos"/>
              </a:defRPr>
            </a:pPr>
            <a:r>
              <a:t>Python · pandas · datos abiertos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vamos</a:t>
            </a:r>
            <a:r>
              <a:rPr dirty="0"/>
              <a:t> a </a:t>
            </a:r>
            <a:r>
              <a:rPr dirty="0" err="1"/>
              <a:t>aprender</a:t>
            </a:r>
            <a:r>
              <a:rPr dirty="0"/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del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ejercicio</a:t>
            </a:r>
            <a:endParaRPr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1060704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Cargar un </a:t>
            </a:r>
            <a:r>
              <a:rPr dirty="0" err="1"/>
              <a:t>fichero</a:t>
            </a:r>
            <a:r>
              <a:rPr dirty="0"/>
              <a:t> CSV y </a:t>
            </a:r>
            <a:r>
              <a:rPr dirty="0" err="1"/>
              <a:t>explorar</a:t>
            </a:r>
            <a:r>
              <a:rPr dirty="0"/>
              <a:t> un </a:t>
            </a:r>
            <a:r>
              <a:rPr dirty="0" err="1"/>
              <a:t>DataFrame</a:t>
            </a:r>
            <a:r>
              <a:rPr dirty="0"/>
              <a:t>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Interpretar</a:t>
            </a:r>
            <a:r>
              <a:rPr dirty="0"/>
              <a:t> los </a:t>
            </a:r>
            <a:r>
              <a:rPr dirty="0" err="1"/>
              <a:t>tipos</a:t>
            </a:r>
            <a:r>
              <a:rPr dirty="0"/>
              <a:t> de datos y </a:t>
            </a: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fechas</a:t>
            </a:r>
            <a:r>
              <a:rPr dirty="0"/>
              <a:t> y horas.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Seleccionar</a:t>
            </a:r>
            <a:r>
              <a:rPr dirty="0"/>
              <a:t> columnas y </a:t>
            </a:r>
            <a:r>
              <a:rPr dirty="0" err="1"/>
              <a:t>renombrarlas</a:t>
            </a:r>
            <a:r>
              <a:rPr dirty="0"/>
              <a:t> para </a:t>
            </a:r>
            <a:r>
              <a:rPr dirty="0" err="1"/>
              <a:t>trabajar</a:t>
            </a:r>
            <a:r>
              <a:rPr dirty="0"/>
              <a:t> con </a:t>
            </a:r>
            <a:r>
              <a:rPr dirty="0" err="1"/>
              <a:t>claridad</a:t>
            </a:r>
            <a:r>
              <a:rPr dirty="0"/>
              <a:t>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Filtrar</a:t>
            </a:r>
            <a:r>
              <a:rPr dirty="0"/>
              <a:t> </a:t>
            </a:r>
            <a:r>
              <a:rPr dirty="0" err="1"/>
              <a:t>observaciones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distrito</a:t>
            </a:r>
            <a:r>
              <a:rPr dirty="0"/>
              <a:t>, </a:t>
            </a:r>
            <a:r>
              <a:rPr dirty="0" err="1"/>
              <a:t>fecha</a:t>
            </a:r>
            <a:r>
              <a:rPr dirty="0"/>
              <a:t> y hora.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Agrupar</a:t>
            </a:r>
            <a:r>
              <a:rPr dirty="0"/>
              <a:t> datos y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totales</a:t>
            </a:r>
            <a:r>
              <a:rPr dirty="0"/>
              <a:t> con </a:t>
            </a:r>
            <a:r>
              <a:rPr dirty="0" err="1"/>
              <a:t>groupby</a:t>
            </a:r>
            <a:r>
              <a:rPr dirty="0"/>
              <a:t>() y sum().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Ordenar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para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de </a:t>
            </a:r>
            <a:r>
              <a:rPr dirty="0" err="1"/>
              <a:t>movilidad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rPr dirty="0"/>
              <a:t>Datos de </a:t>
            </a:r>
            <a:r>
              <a:rPr dirty="0" err="1"/>
              <a:t>partida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>
            <a:defPPr>
              <a:defRPr lang="en-US"/>
            </a:defPPr>
            <a:lvl1pPr>
              <a:spcAft>
                <a:spcPts val="700"/>
              </a:spcAft>
              <a:defRPr sz="1300" b="0">
                <a:solidFill>
                  <a:srgbClr val="69747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dirty="0" err="1"/>
              <a:t>Fichero</a:t>
            </a:r>
            <a:r>
              <a:rPr dirty="0"/>
              <a:t> de </a:t>
            </a:r>
            <a:r>
              <a:rPr dirty="0" err="1"/>
              <a:t>aforos</a:t>
            </a:r>
            <a:r>
              <a:rPr dirty="0"/>
              <a:t> de </a:t>
            </a:r>
            <a:r>
              <a:rPr dirty="0" err="1"/>
              <a:t>peatones</a:t>
            </a:r>
            <a:r>
              <a:rPr dirty="0"/>
              <a:t> y </a:t>
            </a:r>
            <a:r>
              <a:rPr dirty="0" err="1"/>
              <a:t>bicicletas</a:t>
            </a:r>
            <a:r>
              <a:rPr dirty="0"/>
              <a:t> de Madrid (</a:t>
            </a:r>
            <a:r>
              <a:rPr dirty="0" err="1"/>
              <a:t>año</a:t>
            </a:r>
            <a:r>
              <a:rPr dirty="0"/>
              <a:t> 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60704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Fuente </a:t>
            </a:r>
            <a:r>
              <a:rPr dirty="0" err="1"/>
              <a:t>indicada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notebook: Portal de Datos </a:t>
            </a:r>
            <a:r>
              <a:rPr dirty="0" err="1"/>
              <a:t>Abiertos</a:t>
            </a:r>
            <a:r>
              <a:rPr dirty="0"/>
              <a:t> del Ayuntamiento de Madrid.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Fichero</a:t>
            </a:r>
            <a:r>
              <a:rPr dirty="0"/>
              <a:t>: 300321-3-</a:t>
            </a:r>
            <a:r>
              <a:rPr dirty="0" err="1"/>
              <a:t>aforos</a:t>
            </a:r>
            <a:r>
              <a:rPr dirty="0"/>
              <a:t>-</a:t>
            </a:r>
            <a:r>
              <a:rPr dirty="0" err="1"/>
              <a:t>peatones-bicicletas-csv.csv</a:t>
            </a:r>
            <a:endParaRPr dirty="0"/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Los datos </a:t>
            </a:r>
            <a:r>
              <a:rPr dirty="0" err="1"/>
              <a:t>contienen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, hora,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peatones</a:t>
            </a:r>
            <a:r>
              <a:rPr dirty="0"/>
              <a:t>, </a:t>
            </a:r>
            <a:r>
              <a:rPr dirty="0" err="1"/>
              <a:t>distrito</a:t>
            </a:r>
            <a:r>
              <a:rPr dirty="0"/>
              <a:t> y </a:t>
            </a:r>
            <a:r>
              <a:rPr dirty="0" err="1"/>
              <a:t>ubicación</a:t>
            </a:r>
            <a:r>
              <a:rPr dirty="0"/>
              <a:t>.</a:t>
            </a:r>
          </a:p>
          <a:p>
            <a:pPr>
              <a:spcAft>
                <a:spcPts val="1500"/>
              </a:spcAft>
              <a:defRPr sz="2100">
                <a:solidFill>
                  <a:srgbClr val="2D3741"/>
                </a:solidFill>
                <a:latin typeface="Aptos"/>
              </a:defRPr>
            </a:pPr>
            <a:r>
              <a:rPr dirty="0"/>
              <a:t>•  El </a:t>
            </a:r>
            <a:r>
              <a:rPr dirty="0" err="1"/>
              <a:t>objetivo</a:t>
            </a:r>
            <a:r>
              <a:rPr dirty="0"/>
              <a:t> no es solo leer el CSV: también </a:t>
            </a:r>
            <a:r>
              <a:rPr dirty="0" err="1"/>
              <a:t>preparar</a:t>
            </a:r>
            <a:r>
              <a:rPr dirty="0"/>
              <a:t> los datos para </a:t>
            </a:r>
            <a:r>
              <a:rPr dirty="0" err="1"/>
              <a:t>poder</a:t>
            </a:r>
            <a:r>
              <a:rPr dirty="0"/>
              <a:t> </a:t>
            </a:r>
            <a:r>
              <a:rPr dirty="0" err="1"/>
              <a:t>analizarlos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440680"/>
            <a:ext cx="10652760" cy="658368"/>
          </a:xfrm>
          <a:prstGeom prst="roundRect">
            <a:avLst/>
          </a:prstGeom>
          <a:solidFill>
            <a:srgbClr val="FFF8E6"/>
          </a:solidFill>
          <a:ln>
            <a:solidFill>
              <a:srgbClr val="F2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: 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necesitamos</a:t>
            </a:r>
            <a:r>
              <a:rPr dirty="0"/>
              <a:t> para </a:t>
            </a:r>
            <a:r>
              <a:rPr dirty="0" err="1"/>
              <a:t>estudiar</a:t>
            </a:r>
            <a:r>
              <a:rPr dirty="0"/>
              <a:t> </a:t>
            </a:r>
            <a:r>
              <a:rPr dirty="0" err="1"/>
              <a:t>cuándo</a:t>
            </a:r>
            <a:r>
              <a:rPr dirty="0"/>
              <a:t> y </a:t>
            </a:r>
            <a:r>
              <a:rPr dirty="0" err="1"/>
              <a:t>dónde</a:t>
            </a:r>
            <a:r>
              <a:rPr dirty="0"/>
              <a:t> hay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peatones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Cargar</a:t>
            </a:r>
            <a:r>
              <a:rPr dirty="0"/>
              <a:t> y </a:t>
            </a:r>
            <a:r>
              <a:rPr dirty="0" err="1"/>
              <a:t>explorar</a:t>
            </a:r>
            <a:r>
              <a:rPr dirty="0"/>
              <a:t> el 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primera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comprobación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es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verificar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los datos se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leído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correctamente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49240"/>
            <a:ext cx="10652760" cy="658368"/>
          </a:xfrm>
          <a:prstGeom prst="roundRect">
            <a:avLst/>
          </a:prstGeom>
          <a:solidFill>
            <a:srgbClr val="FFF8E6"/>
          </a:solidFill>
          <a:ln>
            <a:solidFill>
              <a:srgbClr val="F2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500">
                <a:solidFill>
                  <a:srgbClr val="2D3741"/>
                </a:solidFill>
                <a:latin typeface="Aptos"/>
              </a:defRPr>
            </a:pPr>
            <a:r>
              <a:rPr dirty="0" err="1"/>
              <a:t>Observa</a:t>
            </a:r>
            <a:r>
              <a:rPr dirty="0"/>
              <a:t>: 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filas</a:t>
            </a:r>
            <a:r>
              <a:rPr dirty="0"/>
              <a:t> y columnas, </a:t>
            </a:r>
            <a:r>
              <a:rPr dirty="0" err="1"/>
              <a:t>nombres</a:t>
            </a:r>
            <a:r>
              <a:rPr dirty="0"/>
              <a:t> de las variables y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contiene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fila.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90C42-55A7-BFB7-CC99-A5746702F94F}"/>
              </a:ext>
            </a:extLst>
          </p:cNvPr>
          <p:cNvSpPr txBox="1"/>
          <p:nvPr/>
        </p:nvSpPr>
        <p:spPr>
          <a:xfrm>
            <a:off x="1147572" y="2270990"/>
            <a:ext cx="9249507" cy="2316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2200" dirty="0" err="1">
                <a:solidFill>
                  <a:srgbClr val="1C304A"/>
                </a:solidFill>
                <a:latin typeface="Consolas"/>
              </a:rPr>
              <a:t>df</a:t>
            </a:r>
            <a:r>
              <a:rPr lang="en-GB" sz="2200" dirty="0">
                <a:solidFill>
                  <a:srgbClr val="1C304A"/>
                </a:solidFill>
                <a:latin typeface="Consolas"/>
              </a:rPr>
              <a:t> = </a:t>
            </a:r>
            <a:r>
              <a:rPr lang="en-GB" sz="2200" dirty="0" err="1">
                <a:solidFill>
                  <a:srgbClr val="1C304A"/>
                </a:solidFill>
                <a:latin typeface="Consolas"/>
              </a:rPr>
              <a:t>pd.read_csv</a:t>
            </a:r>
            <a:r>
              <a:rPr lang="en-GB" sz="2200" dirty="0">
                <a:solidFill>
                  <a:srgbClr val="1C304A"/>
                </a:solidFill>
                <a:latin typeface="Consolas"/>
              </a:rPr>
              <a:t>(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2200" dirty="0">
                <a:solidFill>
                  <a:srgbClr val="1C304A"/>
                </a:solidFill>
                <a:latin typeface="Consolas"/>
              </a:rPr>
              <a:t>    "./Data/300321-3-</a:t>
            </a:r>
            <a:r>
              <a:rPr lang="en-GB" sz="2200" dirty="0" err="1">
                <a:solidFill>
                  <a:srgbClr val="1C304A"/>
                </a:solidFill>
                <a:latin typeface="Consolas"/>
              </a:rPr>
              <a:t>aforos</a:t>
            </a:r>
            <a:r>
              <a:rPr lang="en-GB" sz="2200" dirty="0">
                <a:solidFill>
                  <a:srgbClr val="1C304A"/>
                </a:solidFill>
                <a:latin typeface="Consolas"/>
              </a:rPr>
              <a:t>-</a:t>
            </a:r>
            <a:r>
              <a:rPr lang="en-GB" sz="2200" dirty="0" err="1">
                <a:solidFill>
                  <a:srgbClr val="1C304A"/>
                </a:solidFill>
                <a:latin typeface="Consolas"/>
              </a:rPr>
              <a:t>peatones-bicicletas-csv.csv</a:t>
            </a:r>
            <a:r>
              <a:rPr lang="en-GB" sz="2200" dirty="0">
                <a:solidFill>
                  <a:srgbClr val="1C304A"/>
                </a:solidFill>
                <a:latin typeface="Consolas"/>
              </a:rPr>
              <a:t>",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2200" dirty="0">
                <a:solidFill>
                  <a:srgbClr val="1C304A"/>
                </a:solidFill>
                <a:latin typeface="Consolas"/>
              </a:rPr>
              <a:t>    </a:t>
            </a:r>
            <a:r>
              <a:rPr lang="en-GB" sz="2200" dirty="0" err="1">
                <a:solidFill>
                  <a:srgbClr val="1C304A"/>
                </a:solidFill>
                <a:latin typeface="Consolas"/>
              </a:rPr>
              <a:t>sep</a:t>
            </a:r>
            <a:r>
              <a:rPr lang="en-GB" sz="2200" dirty="0">
                <a:solidFill>
                  <a:srgbClr val="1C304A"/>
                </a:solidFill>
                <a:latin typeface="Consolas"/>
              </a:rPr>
              <a:t>=";",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2200" dirty="0">
                <a:solidFill>
                  <a:srgbClr val="1C304A"/>
                </a:solidFill>
                <a:latin typeface="Consolas"/>
              </a:rPr>
              <a:t>    decimal=","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2200" dirty="0">
                <a:solidFill>
                  <a:srgbClr val="1C304A"/>
                </a:solidFill>
                <a:latin typeface="Consolas"/>
              </a:rPr>
              <a:t>)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2200" dirty="0" err="1">
                <a:solidFill>
                  <a:srgbClr val="1C304A"/>
                </a:solidFill>
                <a:latin typeface="Consolas"/>
              </a:rPr>
              <a:t>df</a:t>
            </a:r>
            <a:endParaRPr lang="en-GB" sz="2200" dirty="0">
              <a:solidFill>
                <a:srgbClr val="1C304A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2. Explorar los tipos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info()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ayuda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detectar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columnas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todavía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tienen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el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adecuado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60704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Una columna object puede contener cadenas u otros objetos de Python.</a:t>
            </a:r>
          </a:p>
          <a:p>
            <a:pPr>
              <a:spcAft>
                <a:spcPts val="15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Si FECHA se almacena como texto, no podremos usar directamente operaciones temporales como .dt.year.</a:t>
            </a:r>
          </a:p>
          <a:p>
            <a:pPr>
              <a:spcAft>
                <a:spcPts val="15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•  Antes de analizar, conviene comprobar los tipos y los valores nulos.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57113-01DA-FE37-D363-5221CDFD325C}"/>
              </a:ext>
            </a:extLst>
          </p:cNvPr>
          <p:cNvSpPr txBox="1"/>
          <p:nvPr/>
        </p:nvSpPr>
        <p:spPr>
          <a:xfrm>
            <a:off x="2101362" y="2156810"/>
            <a:ext cx="610186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 err="1"/>
              <a:t>df.info</a:t>
            </a:r>
            <a:r>
              <a:rPr lang="en-GB" sz="1900" dirty="0"/>
              <a:t>() 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type(</a:t>
            </a:r>
            <a:r>
              <a:rPr lang="en-GB" sz="1900" dirty="0" err="1"/>
              <a:t>df</a:t>
            </a:r>
            <a:r>
              <a:rPr lang="en-GB" sz="1900" dirty="0"/>
              <a:t>["FECHA"].</a:t>
            </a:r>
            <a:r>
              <a:rPr lang="en-GB" sz="1900" dirty="0" err="1"/>
              <a:t>iloc</a:t>
            </a:r>
            <a:r>
              <a:rPr lang="en-GB" sz="1900" dirty="0"/>
              <a:t>[0])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3. Convertir la columna FECHA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fichero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mezcla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fechas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con hora y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fechas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sin hora.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68018"/>
            <a:ext cx="106070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dayfirst=True interpreta el día antes del mes.</a:t>
            </a:r>
          </a:p>
          <a:p>
            <a:pPr>
              <a:spcAft>
                <a:spcPts val="15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format="mixed" permite interpretar formatos diferentes dentro de la columna.</a:t>
            </a:r>
          </a:p>
          <a:p>
            <a:pPr>
              <a:spcAft>
                <a:spcPts val="15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Después podemos extraer año, mes, día de la semana o comparar fechas.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498F1-3F4E-5416-F672-14281ADBB760}"/>
              </a:ext>
            </a:extLst>
          </p:cNvPr>
          <p:cNvSpPr txBox="1"/>
          <p:nvPr/>
        </p:nvSpPr>
        <p:spPr>
          <a:xfrm>
            <a:off x="2646485" y="2120885"/>
            <a:ext cx="61018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 err="1"/>
              <a:t>df</a:t>
            </a:r>
            <a:r>
              <a:rPr lang="en-GB" sz="1900" dirty="0"/>
              <a:t>["FECHA"] = </a:t>
            </a:r>
            <a:r>
              <a:rPr lang="en-GB" sz="1900" dirty="0" err="1"/>
              <a:t>pd.to_datetime</a:t>
            </a:r>
            <a:r>
              <a:rPr lang="en-GB" sz="1900" dirty="0"/>
              <a:t>(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    </a:t>
            </a:r>
            <a:r>
              <a:rPr lang="en-GB" sz="1900" dirty="0" err="1"/>
              <a:t>df</a:t>
            </a:r>
            <a:r>
              <a:rPr lang="en-GB" sz="1900" dirty="0"/>
              <a:t>["FECHA"],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    </a:t>
            </a:r>
            <a:r>
              <a:rPr lang="en-GB" sz="1900" dirty="0" err="1"/>
              <a:t>dayfirst</a:t>
            </a:r>
            <a:r>
              <a:rPr lang="en-GB" sz="1900" dirty="0"/>
              <a:t>=True,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    format="mixed"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Extraer partes de una fecha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accesor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.dt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permite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acceder a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componentes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temporales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serie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datetime.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8E6"/>
          </a:solidFill>
          <a:ln>
            <a:solidFill>
              <a:srgbClr val="F2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500">
                <a:solidFill>
                  <a:srgbClr val="2D3741"/>
                </a:solidFill>
                <a:latin typeface="Aptos"/>
              </a:defRPr>
            </a:pPr>
            <a:r>
              <a:t>Para pensar:  day_name() devuelve los nombres de los días en inglés. ¿Cómo los traducirías al español?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ED713-917A-2AA7-BB56-5428DD8FBBAC}"/>
              </a:ext>
            </a:extLst>
          </p:cNvPr>
          <p:cNvSpPr txBox="1"/>
          <p:nvPr/>
        </p:nvSpPr>
        <p:spPr>
          <a:xfrm>
            <a:off x="2593731" y="2319772"/>
            <a:ext cx="61018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 err="1"/>
              <a:t>df</a:t>
            </a:r>
            <a:r>
              <a:rPr lang="en-GB" sz="1900" dirty="0"/>
              <a:t>["FECHA"].</a:t>
            </a:r>
            <a:r>
              <a:rPr lang="en-GB" sz="1900" dirty="0" err="1"/>
              <a:t>dt.year</a:t>
            </a:r>
            <a:r>
              <a:rPr lang="en-GB" sz="1900" dirty="0"/>
              <a:t> 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endParaRPr lang="en-GB" sz="1900" dirty="0"/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 err="1"/>
              <a:t>df</a:t>
            </a:r>
            <a:r>
              <a:rPr lang="en-GB" sz="1900" dirty="0"/>
              <a:t>["FECHA"].</a:t>
            </a:r>
            <a:r>
              <a:rPr lang="en-GB" sz="1900" dirty="0" err="1"/>
              <a:t>dt.month</a:t>
            </a:r>
            <a:endParaRPr lang="en-GB" sz="1900" dirty="0"/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 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 err="1"/>
              <a:t>df</a:t>
            </a:r>
            <a:r>
              <a:rPr lang="en-GB" sz="1900" dirty="0"/>
              <a:t>["FECHA"].</a:t>
            </a:r>
            <a:r>
              <a:rPr lang="en-GB" sz="1900" dirty="0" err="1"/>
              <a:t>dt.day_name</a:t>
            </a:r>
            <a:r>
              <a:rPr lang="en-GB" sz="1900" dirty="0"/>
              <a:t>()</a:t>
            </a:r>
            <a:endParaRPr lang="es-E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4. Convertir la columna HORA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Las horas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aparecen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inicialmente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ejemplo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00:00 o 01:00.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6070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datetime.time representa una hora del día.</a:t>
            </a:r>
          </a:p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La columna puede seguir apareciendo como object en pandas: contiene objetos time de Python.</a:t>
            </a:r>
          </a:p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Para filtrar una hora concreta, comparamos con un objeto de hora.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6A333-A896-BCA9-BD1E-A46B72D9B4F6}"/>
              </a:ext>
            </a:extLst>
          </p:cNvPr>
          <p:cNvSpPr txBox="1"/>
          <p:nvPr/>
        </p:nvSpPr>
        <p:spPr>
          <a:xfrm>
            <a:off x="3011542" y="2182566"/>
            <a:ext cx="6101860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 err="1"/>
              <a:t>df</a:t>
            </a:r>
            <a:r>
              <a:rPr lang="en-GB" sz="1900" dirty="0"/>
              <a:t>["HORA"] = </a:t>
            </a:r>
            <a:r>
              <a:rPr lang="en-GB" sz="1900" dirty="0" err="1"/>
              <a:t>pd.to_datetime</a:t>
            </a:r>
            <a:r>
              <a:rPr lang="en-GB" sz="1900" dirty="0"/>
              <a:t>(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    </a:t>
            </a:r>
            <a:r>
              <a:rPr lang="en-GB" sz="1900" dirty="0" err="1"/>
              <a:t>df</a:t>
            </a:r>
            <a:r>
              <a:rPr lang="en-GB" sz="1900" dirty="0"/>
              <a:t>["HORA"],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    format="%H:%M"</a:t>
            </a:r>
          </a:p>
          <a:p>
            <a:pPr marL="0" indent="0">
              <a:spcAft>
                <a:spcPts val="300"/>
              </a:spcAft>
              <a:buNone/>
              <a:defRPr sz="1900">
                <a:solidFill>
                  <a:srgbClr val="1C304A"/>
                </a:solidFill>
                <a:latin typeface="Consolas"/>
              </a:defRPr>
            </a:pPr>
            <a:r>
              <a:rPr lang="en-GB" sz="1900" dirty="0"/>
              <a:t>).</a:t>
            </a:r>
            <a:r>
              <a:rPr lang="en-GB" sz="1900" dirty="0" err="1"/>
              <a:t>dt.time</a:t>
            </a:r>
            <a:endParaRPr lang="en-GB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5. Preparar el DataFrame de trabajo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Seleccionamos solo las columnas necesarias y cambiamos un nombre.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257800"/>
            <a:ext cx="10652760" cy="658368"/>
          </a:xfrm>
          <a:prstGeom prst="roundRect">
            <a:avLst/>
          </a:prstGeom>
          <a:solidFill>
            <a:srgbClr val="FFF8E6"/>
          </a:solidFill>
          <a:ln>
            <a:solidFill>
              <a:srgbClr val="F2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500">
                <a:solidFill>
                  <a:srgbClr val="2D3741"/>
                </a:solidFill>
                <a:latin typeface="Aptos"/>
              </a:defRPr>
            </a:pPr>
            <a:r>
              <a:t>Ventaja:  df_1 es más manejable y DIRECCION expresa con claridad el significado de la columna.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6A38A-3166-8374-23C3-378A3F108010}"/>
              </a:ext>
            </a:extLst>
          </p:cNvPr>
          <p:cNvSpPr txBox="1"/>
          <p:nvPr/>
        </p:nvSpPr>
        <p:spPr>
          <a:xfrm>
            <a:off x="2118947" y="2433243"/>
            <a:ext cx="7552592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 err="1"/>
              <a:t>df_1</a:t>
            </a:r>
            <a:r>
              <a:rPr lang="en-GB" sz="1700" dirty="0"/>
              <a:t> = </a:t>
            </a:r>
            <a:r>
              <a:rPr lang="en-GB" sz="1700" dirty="0" err="1"/>
              <a:t>df</a:t>
            </a:r>
            <a:r>
              <a:rPr lang="en-GB" sz="1700" dirty="0"/>
              <a:t>[[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/>
              <a:t>    "FECHA", "HORA", "</a:t>
            </a:r>
            <a:r>
              <a:rPr lang="en-GB" sz="1700" dirty="0" err="1"/>
              <a:t>PEATONES</a:t>
            </a:r>
            <a:r>
              <a:rPr lang="en-GB" sz="1700" dirty="0"/>
              <a:t>",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/>
              <a:t>    "DISTRITO", "</a:t>
            </a:r>
            <a:r>
              <a:rPr lang="en-GB" sz="1700" dirty="0" err="1"/>
              <a:t>NOMBRE_VIAL</a:t>
            </a:r>
            <a:r>
              <a:rPr lang="en-GB" sz="1700" dirty="0"/>
              <a:t>", "</a:t>
            </a:r>
            <a:r>
              <a:rPr lang="en-GB" sz="1700" dirty="0" err="1"/>
              <a:t>NÚMERO</a:t>
            </a:r>
            <a:r>
              <a:rPr lang="en-GB" sz="1700" dirty="0"/>
              <a:t>"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/>
              <a:t>]].copy()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/>
              <a:t> 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 err="1"/>
              <a:t>df_1</a:t>
            </a:r>
            <a:r>
              <a:rPr lang="en-GB" sz="1700" dirty="0"/>
              <a:t> = </a:t>
            </a:r>
            <a:r>
              <a:rPr lang="en-GB" sz="1700" dirty="0" err="1"/>
              <a:t>df_1.rename</a:t>
            </a:r>
            <a:r>
              <a:rPr lang="en-GB" sz="1700" dirty="0"/>
              <a:t>(columns={"</a:t>
            </a:r>
            <a:r>
              <a:rPr lang="en-GB" sz="1700" dirty="0" err="1"/>
              <a:t>NOMBRE_VIAL</a:t>
            </a:r>
            <a:r>
              <a:rPr lang="en-GB" sz="1700" dirty="0"/>
              <a:t>": "</a:t>
            </a:r>
            <a:r>
              <a:rPr lang="en-GB" sz="1700" dirty="0" err="1"/>
              <a:t>DIRECCION</a:t>
            </a:r>
            <a:r>
              <a:rPr lang="en-GB" sz="1700" dirty="0"/>
              <a:t>"})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6. Analizar por día de la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Creamos una variable nueva a partir de FECHA.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623560"/>
            <a:ext cx="10652760" cy="658368"/>
          </a:xfrm>
          <a:prstGeom prst="roundRect">
            <a:avLst/>
          </a:prstGeom>
          <a:solidFill>
            <a:srgbClr val="FFF8E6"/>
          </a:solidFill>
          <a:ln>
            <a:solidFill>
              <a:srgbClr val="F2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500">
                <a:solidFill>
                  <a:srgbClr val="2D3741"/>
                </a:solidFill>
                <a:latin typeface="Aptos"/>
              </a:defRPr>
            </a:pPr>
            <a:r>
              <a:t>Idea clave:  map() aplica la correspondencia entre cada nombre en inglés y su equivalente en español.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42D4C-13DE-BFB2-A955-D2D0BB9700CD}"/>
              </a:ext>
            </a:extLst>
          </p:cNvPr>
          <p:cNvSpPr txBox="1"/>
          <p:nvPr/>
        </p:nvSpPr>
        <p:spPr>
          <a:xfrm>
            <a:off x="1673352" y="1986967"/>
            <a:ext cx="8241909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df_1</a:t>
            </a:r>
            <a:r>
              <a:rPr lang="en-GB" sz="1500" dirty="0"/>
              <a:t>["</a:t>
            </a:r>
            <a:r>
              <a:rPr lang="en-GB" sz="1500" dirty="0" err="1"/>
              <a:t>DIA_SEMANA</a:t>
            </a:r>
            <a:r>
              <a:rPr lang="en-GB" sz="1500" dirty="0"/>
              <a:t>"] = </a:t>
            </a:r>
            <a:r>
              <a:rPr lang="en-GB" sz="1500" dirty="0" err="1"/>
              <a:t>df_1</a:t>
            </a:r>
            <a:r>
              <a:rPr lang="en-GB" sz="1500" dirty="0"/>
              <a:t>["FECHA"].</a:t>
            </a:r>
            <a:r>
              <a:rPr lang="en-GB" sz="1500" dirty="0" err="1"/>
              <a:t>dt.day_name</a:t>
            </a:r>
            <a:r>
              <a:rPr lang="en-GB" sz="1500" dirty="0"/>
              <a:t>()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# </a:t>
            </a:r>
            <a:r>
              <a:rPr lang="en-GB" sz="1500" dirty="0" err="1"/>
              <a:t>Traducir</a:t>
            </a:r>
            <a:r>
              <a:rPr lang="en-GB" sz="1500" dirty="0"/>
              <a:t> los </a:t>
            </a:r>
            <a:r>
              <a:rPr lang="en-GB" sz="1500" dirty="0" err="1"/>
              <a:t>nombres</a:t>
            </a:r>
            <a:r>
              <a:rPr lang="en-GB" sz="1500" dirty="0"/>
              <a:t> al </a:t>
            </a:r>
            <a:r>
              <a:rPr lang="en-GB" sz="1500" dirty="0" err="1"/>
              <a:t>español</a:t>
            </a:r>
            <a:r>
              <a:rPr lang="en-GB" sz="1500" dirty="0"/>
              <a:t> con un </a:t>
            </a:r>
            <a:r>
              <a:rPr lang="en-GB" sz="1500" dirty="0" err="1"/>
              <a:t>diccionario</a:t>
            </a:r>
            <a:endParaRPr lang="en-GB" sz="1500" dirty="0"/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dias</a:t>
            </a:r>
            <a:r>
              <a:rPr lang="en-GB" sz="1500" dirty="0"/>
              <a:t> = {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   "Monday": "Lunes", "Tuesday": "Martes",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   "Wednesday": "</a:t>
            </a:r>
            <a:r>
              <a:rPr lang="en-GB" sz="1500" dirty="0" err="1"/>
              <a:t>Miércoles</a:t>
            </a:r>
            <a:r>
              <a:rPr lang="en-GB" sz="1500" dirty="0"/>
              <a:t>", "Thursday": "Jueves",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   "Friday": "Viernes", "Saturday": "Sábado",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   "Sunday": "Domingo"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}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df_1</a:t>
            </a:r>
            <a:r>
              <a:rPr lang="en-GB" sz="1500" dirty="0"/>
              <a:t>["</a:t>
            </a:r>
            <a:r>
              <a:rPr lang="en-GB" sz="1500" dirty="0" err="1"/>
              <a:t>DIA_SEMANA</a:t>
            </a:r>
            <a:r>
              <a:rPr lang="en-GB" sz="1500" dirty="0"/>
              <a:t>"] = </a:t>
            </a:r>
            <a:r>
              <a:rPr lang="en-GB" sz="1500" dirty="0" err="1"/>
              <a:t>df_1</a:t>
            </a:r>
            <a:r>
              <a:rPr lang="en-GB" sz="1500" dirty="0"/>
              <a:t>["</a:t>
            </a:r>
            <a:r>
              <a:rPr lang="en-GB" sz="1500" dirty="0" err="1"/>
              <a:t>DIA_SEMANA</a:t>
            </a:r>
            <a:r>
              <a:rPr lang="en-GB" sz="1500" dirty="0"/>
              <a:t>"].map(</a:t>
            </a:r>
            <a:r>
              <a:rPr lang="en-GB" sz="1500" dirty="0" err="1"/>
              <a:t>dias</a:t>
            </a:r>
            <a:r>
              <a:rPr lang="en-GB" sz="1500"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7. Agrupar y sumar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groupby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 divide los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registros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 sum()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el total de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cada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106070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Por día: total de peatones registrados para cada día de la semana.</a:t>
            </a:r>
          </a:p>
          <a:p>
            <a:pPr>
              <a:spcAft>
                <a:spcPts val="15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Por mes: total de peatones registrados en cada mes.</a:t>
            </a:r>
          </a:p>
          <a:p>
            <a:pPr>
              <a:spcAft>
                <a:spcPts val="15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•  Antes de agrupar por MES, hay que crear la columna: df_1["MES"] = df_1["FECHA"].dt.month.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2BDD9-703B-E0A2-B381-C4DF2C6AC01C}"/>
              </a:ext>
            </a:extLst>
          </p:cNvPr>
          <p:cNvSpPr txBox="1"/>
          <p:nvPr/>
        </p:nvSpPr>
        <p:spPr>
          <a:xfrm>
            <a:off x="1673352" y="2121618"/>
            <a:ext cx="77520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 err="1"/>
              <a:t>peatones_dia</a:t>
            </a:r>
            <a:r>
              <a:rPr lang="en-GB" sz="1800" dirty="0"/>
              <a:t> = </a:t>
            </a:r>
            <a:r>
              <a:rPr lang="en-GB" sz="1800" dirty="0" err="1"/>
              <a:t>df_1.groupby</a:t>
            </a:r>
            <a:r>
              <a:rPr lang="en-GB" sz="1800" dirty="0"/>
              <a:t>("</a:t>
            </a:r>
            <a:r>
              <a:rPr lang="en-GB" sz="1800" dirty="0" err="1"/>
              <a:t>DIA_SEMANA</a:t>
            </a:r>
            <a:r>
              <a:rPr lang="en-GB" sz="1800" dirty="0"/>
              <a:t>")["</a:t>
            </a:r>
            <a:r>
              <a:rPr lang="en-GB" sz="1800" dirty="0" err="1"/>
              <a:t>PEATONES</a:t>
            </a:r>
            <a:r>
              <a:rPr lang="en-GB" sz="1800" dirty="0"/>
              <a:t>"].sum()</a:t>
            </a:r>
          </a:p>
          <a:p>
            <a:pPr>
              <a:spcAft>
                <a:spcPts val="300"/>
              </a:spcAft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 </a:t>
            </a:r>
          </a:p>
          <a:p>
            <a:pPr>
              <a:spcAft>
                <a:spcPts val="300"/>
              </a:spcAft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 err="1"/>
              <a:t>peatones_mes</a:t>
            </a:r>
            <a:r>
              <a:rPr lang="en-GB" sz="1800" dirty="0"/>
              <a:t> = </a:t>
            </a:r>
            <a:r>
              <a:rPr lang="en-GB" sz="1800" dirty="0" err="1"/>
              <a:t>df_1.groupby</a:t>
            </a:r>
            <a:r>
              <a:rPr lang="en-GB" sz="1800" dirty="0"/>
              <a:t>("MES")["</a:t>
            </a:r>
            <a:r>
              <a:rPr lang="en-GB" sz="1800" dirty="0" err="1"/>
              <a:t>PEATONES</a:t>
            </a:r>
            <a:r>
              <a:rPr lang="en-GB" sz="1800" dirty="0"/>
              <a:t>"].sum()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8. Filtrar por distrito, hora y fecha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Una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condición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booleana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permite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seleccionar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las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filas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cumplen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un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criterio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77840"/>
            <a:ext cx="10652760" cy="658368"/>
          </a:xfrm>
          <a:prstGeom prst="roundRect">
            <a:avLst/>
          </a:prstGeom>
          <a:solidFill>
            <a:srgbClr val="FFF8E6"/>
          </a:solidFill>
          <a:ln>
            <a:solidFill>
              <a:srgbClr val="F2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defRPr sz="1500">
                <a:solidFill>
                  <a:srgbClr val="2D3741"/>
                </a:solidFill>
                <a:latin typeface="Aptos"/>
              </a:defRPr>
            </a:pPr>
            <a:r>
              <a:t>Recuerda:  Para combinar condiciones con &amp; o |, encierra cada comparación entre paréntesis.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312BB-FDEE-A6E0-F9C9-1A1CA9B2CFF6}"/>
              </a:ext>
            </a:extLst>
          </p:cNvPr>
          <p:cNvSpPr txBox="1"/>
          <p:nvPr/>
        </p:nvSpPr>
        <p:spPr>
          <a:xfrm>
            <a:off x="1673352" y="2016907"/>
            <a:ext cx="8241909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df_Centro</a:t>
            </a:r>
            <a:r>
              <a:rPr lang="en-GB" sz="1500" dirty="0"/>
              <a:t> = </a:t>
            </a:r>
            <a:r>
              <a:rPr lang="en-GB" sz="1500" dirty="0" err="1"/>
              <a:t>df_1</a:t>
            </a:r>
            <a:r>
              <a:rPr lang="en-GB" sz="1500" dirty="0"/>
              <a:t>[</a:t>
            </a:r>
            <a:r>
              <a:rPr lang="en-GB" sz="1500" dirty="0" err="1"/>
              <a:t>df_1</a:t>
            </a:r>
            <a:r>
              <a:rPr lang="en-GB" sz="1500" dirty="0"/>
              <a:t>["DISTRITO"] == "Centro"].copy() 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endParaRPr lang="en-GB" sz="1500" dirty="0"/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# </a:t>
            </a:r>
            <a:r>
              <a:rPr lang="en-GB" sz="1500" dirty="0" err="1"/>
              <a:t>Observaciones</a:t>
            </a:r>
            <a:r>
              <a:rPr lang="en-GB" sz="1500" dirty="0"/>
              <a:t> de Madrid a las 23:00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df_Madrid_23h</a:t>
            </a:r>
            <a:r>
              <a:rPr lang="en-GB" sz="1500" dirty="0"/>
              <a:t> = </a:t>
            </a:r>
            <a:r>
              <a:rPr lang="en-GB" sz="1500" dirty="0" err="1"/>
              <a:t>df_1</a:t>
            </a:r>
            <a:r>
              <a:rPr lang="en-GB" sz="1500" dirty="0"/>
              <a:t>[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   </a:t>
            </a:r>
            <a:r>
              <a:rPr lang="en-GB" sz="1500" dirty="0" err="1"/>
              <a:t>df_1</a:t>
            </a:r>
            <a:r>
              <a:rPr lang="en-GB" sz="1500" dirty="0"/>
              <a:t>["HORA"] == </a:t>
            </a:r>
            <a:r>
              <a:rPr lang="en-GB" sz="1500" dirty="0" err="1"/>
              <a:t>datetime.time</a:t>
            </a:r>
            <a:r>
              <a:rPr lang="en-GB" sz="1500" dirty="0"/>
              <a:t>(23, 0)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].copy()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 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/>
              <a:t># </a:t>
            </a:r>
            <a:r>
              <a:rPr lang="en-GB" sz="1500" dirty="0" err="1"/>
              <a:t>Fecha</a:t>
            </a:r>
            <a:r>
              <a:rPr lang="en-GB" sz="1500" dirty="0"/>
              <a:t> </a:t>
            </a:r>
            <a:r>
              <a:rPr lang="en-GB" sz="1500" dirty="0" err="1"/>
              <a:t>concreta</a:t>
            </a:r>
            <a:endParaRPr lang="en-GB" sz="1500" dirty="0"/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fecha</a:t>
            </a:r>
            <a:r>
              <a:rPr lang="en-GB" sz="1500" dirty="0"/>
              <a:t> = </a:t>
            </a:r>
            <a:r>
              <a:rPr lang="en-GB" sz="1500" dirty="0" err="1"/>
              <a:t>pd.to_datetime</a:t>
            </a:r>
            <a:r>
              <a:rPr lang="en-GB" sz="1500" dirty="0"/>
              <a:t>("15/03/2020", </a:t>
            </a:r>
            <a:r>
              <a:rPr lang="en-GB" sz="1500" dirty="0" err="1"/>
              <a:t>dayfirst</a:t>
            </a:r>
            <a:r>
              <a:rPr lang="en-GB" sz="1500" dirty="0"/>
              <a:t>=True)</a:t>
            </a:r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endParaRPr lang="en-GB" sz="1500" dirty="0"/>
          </a:p>
          <a:p>
            <a:pPr marL="0" indent="0">
              <a:spcAft>
                <a:spcPts val="300"/>
              </a:spcAft>
              <a:buNone/>
              <a:defRPr sz="1500">
                <a:solidFill>
                  <a:srgbClr val="1C304A"/>
                </a:solidFill>
                <a:latin typeface="Consolas"/>
              </a:defRPr>
            </a:pPr>
            <a:r>
              <a:rPr lang="en-GB" sz="1500" dirty="0" err="1"/>
              <a:t>df_fecha</a:t>
            </a:r>
            <a:r>
              <a:rPr lang="en-GB" sz="1500" dirty="0"/>
              <a:t> = </a:t>
            </a:r>
            <a:r>
              <a:rPr lang="en-GB" sz="1500" dirty="0" err="1"/>
              <a:t>df_1</a:t>
            </a:r>
            <a:r>
              <a:rPr lang="en-GB" sz="1500" dirty="0"/>
              <a:t>[</a:t>
            </a:r>
            <a:r>
              <a:rPr lang="en-GB" sz="1500" dirty="0" err="1"/>
              <a:t>df_1</a:t>
            </a:r>
            <a:r>
              <a:rPr lang="en-GB" sz="1500" dirty="0"/>
              <a:t>["FECHA"].</a:t>
            </a:r>
            <a:r>
              <a:rPr lang="en-GB" sz="1500" dirty="0" err="1"/>
              <a:t>dt.date</a:t>
            </a:r>
            <a:r>
              <a:rPr lang="en-GB" sz="1500" dirty="0"/>
              <a:t> == </a:t>
            </a:r>
            <a:r>
              <a:rPr lang="en-GB" sz="1500" dirty="0" err="1"/>
              <a:t>fecha.date</a:t>
            </a:r>
            <a:r>
              <a:rPr lang="en-GB" sz="1500" dirty="0"/>
              <a:t>()].copy()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9. Las 10 calles con más peatones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Agrupar por calle y ordenar los totales de mayor a menor.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60704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groupby("DIRECCION") agrupa las observaciones de cada calle.</a:t>
            </a:r>
          </a:p>
          <a:p>
            <a:pPr>
              <a:spcAft>
                <a:spcPts val="1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sum() calcula el total acumulado de peatones.</a:t>
            </a:r>
          </a:p>
          <a:p>
            <a:pPr>
              <a:spcAft>
                <a:spcPts val="1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sort_values(ascending=False) coloca primero los totales más altos.</a:t>
            </a:r>
          </a:p>
          <a:p>
            <a:pPr>
              <a:spcAft>
                <a:spcPts val="15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•  head(10) selecciona las diez primeras calles.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042B6-75BA-AAD6-7BA7-AE26E181C86F}"/>
              </a:ext>
            </a:extLst>
          </p:cNvPr>
          <p:cNvSpPr txBox="1"/>
          <p:nvPr/>
        </p:nvSpPr>
        <p:spPr>
          <a:xfrm>
            <a:off x="973132" y="2022598"/>
            <a:ext cx="1017868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 err="1"/>
              <a:t>peatones_calle</a:t>
            </a:r>
            <a:r>
              <a:rPr lang="en-GB" sz="1700" dirty="0"/>
              <a:t> = </a:t>
            </a:r>
            <a:r>
              <a:rPr lang="en-GB" sz="1700" dirty="0" err="1"/>
              <a:t>df_1.groupby</a:t>
            </a:r>
            <a:r>
              <a:rPr lang="en-GB" sz="1700" dirty="0"/>
              <a:t>("</a:t>
            </a:r>
            <a:r>
              <a:rPr lang="en-GB" sz="1700" dirty="0" err="1"/>
              <a:t>DIRECCION</a:t>
            </a:r>
            <a:r>
              <a:rPr lang="en-GB" sz="1700" dirty="0"/>
              <a:t>")["</a:t>
            </a:r>
            <a:r>
              <a:rPr lang="en-GB" sz="1700" dirty="0" err="1"/>
              <a:t>PEATONES</a:t>
            </a:r>
            <a:r>
              <a:rPr lang="en-GB" sz="1700" dirty="0"/>
              <a:t>"].sum()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endParaRPr lang="en-GB" sz="1700" dirty="0"/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 err="1"/>
              <a:t>peatones_calle</a:t>
            </a:r>
            <a:r>
              <a:rPr lang="en-GB" sz="1700" dirty="0"/>
              <a:t> = </a:t>
            </a:r>
            <a:r>
              <a:rPr lang="en-GB" sz="1700" dirty="0" err="1"/>
              <a:t>peatones_calle.sort_values</a:t>
            </a:r>
            <a:r>
              <a:rPr lang="en-GB" sz="1700" dirty="0"/>
              <a:t>(ascending=False)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/>
              <a:t> 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 err="1"/>
              <a:t>top_10_calles</a:t>
            </a:r>
            <a:r>
              <a:rPr lang="en-GB" sz="1700" dirty="0"/>
              <a:t> = </a:t>
            </a:r>
            <a:r>
              <a:rPr lang="en-GB" sz="1700" dirty="0" err="1"/>
              <a:t>peatones_calle.head</a:t>
            </a:r>
            <a:r>
              <a:rPr lang="en-GB" sz="1700" dirty="0"/>
              <a:t>(10)</a:t>
            </a:r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endParaRPr lang="en-GB" sz="1700" dirty="0"/>
          </a:p>
          <a:p>
            <a:pPr marL="0" indent="0">
              <a:spcAft>
                <a:spcPts val="300"/>
              </a:spcAft>
              <a:buNone/>
              <a:defRPr sz="1700">
                <a:solidFill>
                  <a:srgbClr val="1C304A"/>
                </a:solidFill>
                <a:latin typeface="Consolas"/>
              </a:defRPr>
            </a:pPr>
            <a:r>
              <a:rPr lang="en-GB" sz="1700" dirty="0"/>
              <a:t>print(</a:t>
            </a:r>
            <a:r>
              <a:rPr lang="en-GB" sz="1700" dirty="0" err="1"/>
              <a:t>top_10_calles</a:t>
            </a:r>
            <a:r>
              <a:rPr lang="en-GB" sz="1700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C304A"/>
                </a:solidFill>
                <a:latin typeface="Aptos"/>
              </a:defRPr>
            </a:pPr>
            <a:r>
              <a:t>10. ¿A qué hora hay más peatones?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747E"/>
                </a:solidFill>
                <a:latin typeface="Aptos"/>
              </a:defRPr>
            </a:pP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Misma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estrategia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agrupar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sumar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ordenar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974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6070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La hora se utiliza como clave de agrupación.</a:t>
            </a:r>
          </a:p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El resultado permite identificar las horas con mayor total registrado.</a:t>
            </a:r>
          </a:p>
          <a:p>
            <a:pPr>
              <a:spcAft>
                <a:spcPts val="15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 El orden descendente facilita encontrar el máximo en la primera fila.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39084-3BD3-6C99-CD40-68407AC40B06}"/>
              </a:ext>
            </a:extLst>
          </p:cNvPr>
          <p:cNvSpPr txBox="1"/>
          <p:nvPr/>
        </p:nvSpPr>
        <p:spPr>
          <a:xfrm>
            <a:off x="822960" y="2037317"/>
            <a:ext cx="7376746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 err="1"/>
              <a:t>peatones_hora</a:t>
            </a:r>
            <a:r>
              <a:rPr lang="en-GB" sz="1800" dirty="0"/>
              <a:t> = (</a:t>
            </a:r>
          </a:p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    </a:t>
            </a:r>
            <a:r>
              <a:rPr lang="en-GB" sz="1800" dirty="0" err="1"/>
              <a:t>df_1.groupby</a:t>
            </a:r>
            <a:r>
              <a:rPr lang="en-GB" sz="1800" dirty="0"/>
              <a:t>("HORA")["</a:t>
            </a:r>
            <a:r>
              <a:rPr lang="en-GB" sz="1800" dirty="0" err="1"/>
              <a:t>PEATONES</a:t>
            </a:r>
            <a:r>
              <a:rPr lang="en-GB" sz="1800" dirty="0"/>
              <a:t>"]</a:t>
            </a:r>
          </a:p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        .sum()</a:t>
            </a:r>
          </a:p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        .</a:t>
            </a:r>
            <a:r>
              <a:rPr lang="en-GB" sz="1800" dirty="0" err="1"/>
              <a:t>sort_values</a:t>
            </a:r>
            <a:r>
              <a:rPr lang="en-GB" sz="1800" dirty="0"/>
              <a:t>(ascending=False)</a:t>
            </a:r>
          </a:p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)</a:t>
            </a:r>
          </a:p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 </a:t>
            </a:r>
          </a:p>
          <a:p>
            <a:pPr marL="0" indent="0">
              <a:spcAft>
                <a:spcPts val="300"/>
              </a:spcAft>
              <a:buNone/>
              <a:defRPr sz="1800">
                <a:solidFill>
                  <a:srgbClr val="1C304A"/>
                </a:solidFill>
                <a:latin typeface="Consolas"/>
              </a:defRPr>
            </a:pPr>
            <a:r>
              <a:rPr lang="en-GB" sz="1800" dirty="0"/>
              <a:t>print(</a:t>
            </a:r>
            <a:r>
              <a:rPr lang="en-GB" sz="1800" dirty="0" err="1"/>
              <a:t>peatones_hora</a:t>
            </a:r>
            <a:r>
              <a:rPr lang="en-GB" sz="1800"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Resumen: el flujo de trabajo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7" y="158191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Cargar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2011680"/>
            <a:ext cx="29260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8DAE2"/>
                </a:solidFill>
                <a:latin typeface="Aptos"/>
              </a:defRPr>
            </a:pPr>
            <a:r>
              <a:t>read_csv()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1600200"/>
            <a:ext cx="502920" cy="5029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58191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Inspeccionar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9260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8DAE2"/>
                </a:solidFill>
                <a:latin typeface="Aptos"/>
              </a:defRPr>
            </a:pPr>
            <a:r>
              <a:t>info(), columnas, valores</a:t>
            </a:r>
          </a:p>
        </p:txBody>
      </p:sp>
      <p:sp>
        <p:nvSpPr>
          <p:cNvPr id="9" name="Oval 8"/>
          <p:cNvSpPr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5128" y="158191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Transformar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011680"/>
            <a:ext cx="29260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8DAE2"/>
                </a:solidFill>
                <a:latin typeface="Aptos"/>
              </a:defRPr>
            </a:pPr>
            <a:r>
              <a:t>to_datetime(), .dt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09067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Seleccionar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520440"/>
            <a:ext cx="29260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8DAE2"/>
                </a:solidFill>
                <a:latin typeface="Aptos"/>
              </a:defRPr>
            </a:pPr>
            <a:r>
              <a:t>columnas y filtros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3108960"/>
            <a:ext cx="502920" cy="5029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09067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Agrupar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520440"/>
            <a:ext cx="29260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8DAE2"/>
                </a:solidFill>
                <a:latin typeface="Aptos"/>
              </a:defRPr>
            </a:pPr>
            <a:r>
              <a:t>groupby() + sum()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0" y="3108960"/>
            <a:ext cx="502920" cy="5029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09067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3520440"/>
            <a:ext cx="29260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C8DAE2"/>
                </a:solidFill>
                <a:latin typeface="Aptos"/>
              </a:defRPr>
            </a:pPr>
            <a:r>
              <a:t>sort_values(), head()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E6AE4B"/>
                </a:solidFill>
                <a:latin typeface="Aptos"/>
              </a:defRPr>
            </a:pPr>
            <a:r>
              <a:t>Reto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adaptarías</a:t>
            </a:r>
            <a:r>
              <a:rPr dirty="0"/>
              <a:t> el </a:t>
            </a:r>
            <a:r>
              <a:rPr dirty="0" err="1"/>
              <a:t>análisis</a:t>
            </a:r>
            <a:r>
              <a:rPr dirty="0"/>
              <a:t> para </a:t>
            </a:r>
            <a:r>
              <a:rPr dirty="0" err="1"/>
              <a:t>obtener</a:t>
            </a:r>
            <a:r>
              <a:rPr dirty="0"/>
              <a:t> el total de </a:t>
            </a:r>
            <a:r>
              <a:rPr dirty="0" err="1"/>
              <a:t>peatones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distrito</a:t>
            </a:r>
            <a:r>
              <a:rPr dirty="0"/>
              <a:t> y </a:t>
            </a:r>
            <a:r>
              <a:rPr dirty="0" err="1"/>
              <a:t>mes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9267-9301-5B5C-A21C-61B70B63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472057" cy="1143000"/>
          </a:xfrm>
        </p:spPr>
        <p:txBody>
          <a:bodyPr>
            <a:normAutofit/>
          </a:bodyPr>
          <a:lstStyle/>
          <a:p>
            <a:r>
              <a:rPr lang="en-GB" sz="3100" dirty="0"/>
              <a:t>¿</a:t>
            </a:r>
            <a:r>
              <a:rPr lang="en-GB" sz="3100" dirty="0" err="1"/>
              <a:t>Cómo</a:t>
            </a:r>
            <a:r>
              <a:rPr lang="en-GB" sz="3100" dirty="0"/>
              <a:t> </a:t>
            </a:r>
            <a:r>
              <a:rPr lang="en-GB" sz="3100" dirty="0" err="1"/>
              <a:t>adaptarías</a:t>
            </a:r>
            <a:r>
              <a:rPr lang="en-GB" sz="3100" dirty="0"/>
              <a:t> el </a:t>
            </a:r>
            <a:r>
              <a:rPr lang="en-GB" sz="3100" dirty="0" err="1"/>
              <a:t>análisis</a:t>
            </a:r>
            <a:r>
              <a:rPr lang="en-GB" sz="3100" dirty="0"/>
              <a:t> para </a:t>
            </a:r>
            <a:r>
              <a:rPr lang="en-GB" sz="3100" dirty="0" err="1"/>
              <a:t>obtener</a:t>
            </a:r>
            <a:r>
              <a:rPr lang="en-GB" sz="3100" dirty="0"/>
              <a:t> el total de </a:t>
            </a:r>
            <a:r>
              <a:rPr lang="en-GB" sz="3100" dirty="0" err="1"/>
              <a:t>peatones</a:t>
            </a:r>
            <a:r>
              <a:rPr lang="en-GB" sz="3100" dirty="0"/>
              <a:t> </a:t>
            </a:r>
            <a:r>
              <a:rPr lang="en-GB" sz="3100" dirty="0" err="1"/>
              <a:t>por</a:t>
            </a:r>
            <a:r>
              <a:rPr lang="en-GB" sz="3100" dirty="0"/>
              <a:t> </a:t>
            </a:r>
            <a:r>
              <a:rPr lang="en-GB" sz="3100" dirty="0" err="1"/>
              <a:t>distrito</a:t>
            </a:r>
            <a:r>
              <a:rPr lang="en-GB" sz="3100" dirty="0"/>
              <a:t> y </a:t>
            </a:r>
            <a:r>
              <a:rPr lang="en-GB" sz="3100" dirty="0" err="1"/>
              <a:t>mes</a:t>
            </a:r>
            <a:r>
              <a:rPr lang="en-GB" sz="3100" dirty="0"/>
              <a:t>?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A22EE-5347-B1E8-3643-60BAD93F3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02323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# Crear la columna MES a partir de la fecha</a:t>
            </a:r>
          </a:p>
          <a:p>
            <a:pPr marL="0" indent="0">
              <a:buNone/>
            </a:pP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df_1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["MES"] =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df_1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["FECHA"].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dt.month</a:t>
            </a:r>
            <a:endParaRPr lang="es-E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s-E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# Agrupar por distrito y mes, y sumar los peatones</a:t>
            </a:r>
          </a:p>
          <a:p>
            <a:pPr marL="0" indent="0">
              <a:buNone/>
            </a:pP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peatones_distrito_mes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df_1.groupby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    ["DISTRITO", "MES"]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)["PEATONES"].sum()</a:t>
            </a:r>
          </a:p>
          <a:p>
            <a:pPr marL="0" indent="0">
              <a:buNone/>
            </a:pPr>
            <a:endParaRPr lang="es-E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# Mostrar el resultado</a:t>
            </a:r>
          </a:p>
          <a:p>
            <a:pPr marL="0" indent="0">
              <a:buNone/>
            </a:pP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peatones_distrito_mes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580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1432</Words>
  <Application>Microsoft Macintosh PowerPoint</Application>
  <PresentationFormat>Widescreen</PresentationFormat>
  <Paragraphs>176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¿Cómo adaptarías el análisis para obtener el total de peatones por distrito y mes?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SONIA ESTEVEZ MARTIN</cp:lastModifiedBy>
  <cp:revision>2</cp:revision>
  <dcterms:created xsi:type="dcterms:W3CDTF">2013-01-27T09:14:16Z</dcterms:created>
  <dcterms:modified xsi:type="dcterms:W3CDTF">2026-10-20T18:34:56Z</dcterms:modified>
  <cp:category/>
</cp:coreProperties>
</file>